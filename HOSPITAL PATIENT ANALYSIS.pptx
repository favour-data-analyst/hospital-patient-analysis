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5"/>
  </p:notesMasterIdLst>
  <p:sldIdLst>
    <p:sldId id="256" r:id="rId2"/>
    <p:sldId id="263" r:id="rId3"/>
    <p:sldId id="313" r:id="rId4"/>
    <p:sldId id="311" r:id="rId5"/>
    <p:sldId id="312" r:id="rId6"/>
    <p:sldId id="309" r:id="rId7"/>
    <p:sldId id="310" r:id="rId8"/>
    <p:sldId id="308" r:id="rId9"/>
    <p:sldId id="307" r:id="rId10"/>
    <p:sldId id="306" r:id="rId11"/>
    <p:sldId id="305" r:id="rId12"/>
    <p:sldId id="304" r:id="rId13"/>
    <p:sldId id="303" r:id="rId14"/>
    <p:sldId id="302" r:id="rId15"/>
    <p:sldId id="301" r:id="rId16"/>
    <p:sldId id="314" r:id="rId17"/>
    <p:sldId id="315" r:id="rId18"/>
    <p:sldId id="317" r:id="rId19"/>
    <p:sldId id="318" r:id="rId20"/>
    <p:sldId id="319" r:id="rId21"/>
    <p:sldId id="320" r:id="rId22"/>
    <p:sldId id="321" r:id="rId23"/>
    <p:sldId id="26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7" d="100"/>
          <a:sy n="57" d="100"/>
        </p:scale>
        <p:origin x="68"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EA218D-9C6E-400C-8076-3F245B0C382E}" type="datetimeFigureOut">
              <a:rPr lang="en-US" smtClean="0"/>
              <a:t>12/28/2025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9CF98B-100B-4F3E-A116-938BF560846E}" type="slidenum">
              <a:rPr lang="en-US" smtClean="0"/>
              <a:t>‹#›</a:t>
            </a:fld>
            <a:endParaRPr lang="en-US"/>
          </a:p>
        </p:txBody>
      </p:sp>
    </p:spTree>
    <p:extLst>
      <p:ext uri="{BB962C8B-B14F-4D97-AF65-F5344CB8AC3E}">
        <p14:creationId xmlns:p14="http://schemas.microsoft.com/office/powerpoint/2010/main" val="3870589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9CF98B-100B-4F3E-A116-938BF560846E}" type="slidenum">
              <a:rPr lang="en-US" smtClean="0"/>
              <a:t>1</a:t>
            </a:fld>
            <a:endParaRPr lang="en-US"/>
          </a:p>
        </p:txBody>
      </p:sp>
    </p:spTree>
    <p:extLst>
      <p:ext uri="{BB962C8B-B14F-4D97-AF65-F5344CB8AC3E}">
        <p14:creationId xmlns:p14="http://schemas.microsoft.com/office/powerpoint/2010/main" val="2660602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4B430D9E-DABB-45F6-99B7-DEC8BA3D0559}" type="datetimeFigureOut">
              <a:rPr lang="en-US" smtClean="0"/>
              <a:t>12/28/2025</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6B318863-449E-458D-B78F-7C7EEF8CD971}" type="slidenum">
              <a:rPr lang="en-US" smtClean="0"/>
              <a:t>‹#›</a:t>
            </a:fld>
            <a:endParaRPr lang="en-US"/>
          </a:p>
        </p:txBody>
      </p:sp>
    </p:spTree>
    <p:extLst>
      <p:ext uri="{BB962C8B-B14F-4D97-AF65-F5344CB8AC3E}">
        <p14:creationId xmlns:p14="http://schemas.microsoft.com/office/powerpoint/2010/main" val="913509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430D9E-DABB-45F6-99B7-DEC8BA3D0559}"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318863-449E-458D-B78F-7C7EEF8CD971}" type="slidenum">
              <a:rPr lang="en-US" smtClean="0"/>
              <a:t>‹#›</a:t>
            </a:fld>
            <a:endParaRPr lang="en-US"/>
          </a:p>
        </p:txBody>
      </p:sp>
    </p:spTree>
    <p:extLst>
      <p:ext uri="{BB962C8B-B14F-4D97-AF65-F5344CB8AC3E}">
        <p14:creationId xmlns:p14="http://schemas.microsoft.com/office/powerpoint/2010/main" val="2495107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4B430D9E-DABB-45F6-99B7-DEC8BA3D0559}" type="datetimeFigureOut">
              <a:rPr lang="en-US" smtClean="0"/>
              <a:t>12/28/2025</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6B318863-449E-458D-B78F-7C7EEF8CD971}" type="slidenum">
              <a:rPr lang="en-US" smtClean="0"/>
              <a:t>‹#›</a:t>
            </a:fld>
            <a:endParaRPr lang="en-US"/>
          </a:p>
        </p:txBody>
      </p:sp>
    </p:spTree>
    <p:extLst>
      <p:ext uri="{BB962C8B-B14F-4D97-AF65-F5344CB8AC3E}">
        <p14:creationId xmlns:p14="http://schemas.microsoft.com/office/powerpoint/2010/main" val="2541178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4B430D9E-DABB-45F6-99B7-DEC8BA3D0559}" type="datetimeFigureOut">
              <a:rPr lang="en-US" smtClean="0"/>
              <a:t>12/28/2025</a:t>
            </a:fld>
            <a:endParaRPr lang="en-US"/>
          </a:p>
        </p:txBody>
      </p:sp>
      <p:sp>
        <p:nvSpPr>
          <p:cNvPr id="6" name="Footer Placeholder 5"/>
          <p:cNvSpPr>
            <a:spLocks noGrp="1"/>
          </p:cNvSpPr>
          <p:nvPr>
            <p:ph type="ftr" sz="quarter" idx="11"/>
          </p:nvPr>
        </p:nvSpPr>
        <p:spPr>
          <a:xfrm>
            <a:off x="804672" y="6227064"/>
            <a:ext cx="10588752" cy="320040"/>
          </a:xfrm>
        </p:spPr>
        <p:txBody>
          <a:bodyPr/>
          <a:lstStyle/>
          <a:p>
            <a:endParaRPr lang="en-US"/>
          </a:p>
        </p:txBody>
      </p:sp>
      <p:sp>
        <p:nvSpPr>
          <p:cNvPr id="7" name="Slide Number Placeholder 6"/>
          <p:cNvSpPr>
            <a:spLocks noGrp="1"/>
          </p:cNvSpPr>
          <p:nvPr>
            <p:ph type="sldNum" sz="quarter" idx="12"/>
          </p:nvPr>
        </p:nvSpPr>
        <p:spPr>
          <a:xfrm>
            <a:off x="10469880" y="320040"/>
            <a:ext cx="914400" cy="320040"/>
          </a:xfrm>
        </p:spPr>
        <p:txBody>
          <a:bodyPr/>
          <a:lstStyle/>
          <a:p>
            <a:fld id="{6B318863-449E-458D-B78F-7C7EEF8CD971}" type="slidenum">
              <a:rPr lang="en-US" smtClean="0"/>
              <a:t>‹#›</a:t>
            </a:fld>
            <a:endParaRPr lang="en-US"/>
          </a:p>
        </p:txBody>
      </p:sp>
    </p:spTree>
    <p:extLst>
      <p:ext uri="{BB962C8B-B14F-4D97-AF65-F5344CB8AC3E}">
        <p14:creationId xmlns:p14="http://schemas.microsoft.com/office/powerpoint/2010/main" val="1401190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4B430D9E-DABB-45F6-99B7-DEC8BA3D0559}" type="datetimeFigureOut">
              <a:rPr lang="en-US" smtClean="0"/>
              <a:t>12/28/2025</a:t>
            </a:fld>
            <a:endParaRPr lang="en-US"/>
          </a:p>
        </p:txBody>
      </p:sp>
      <p:sp>
        <p:nvSpPr>
          <p:cNvPr id="8" name="Footer Placeholder 7"/>
          <p:cNvSpPr>
            <a:spLocks noGrp="1"/>
          </p:cNvSpPr>
          <p:nvPr>
            <p:ph type="ftr" sz="quarter" idx="11"/>
          </p:nvPr>
        </p:nvSpPr>
        <p:spPr>
          <a:xfrm>
            <a:off x="804672" y="6227064"/>
            <a:ext cx="10588752" cy="320040"/>
          </a:xfrm>
        </p:spPr>
        <p:txBody>
          <a:bodyPr/>
          <a:lstStyle/>
          <a:p>
            <a:endParaRPr lang="en-US"/>
          </a:p>
        </p:txBody>
      </p:sp>
      <p:sp>
        <p:nvSpPr>
          <p:cNvPr id="9" name="Slide Number Placeholder 8"/>
          <p:cNvSpPr>
            <a:spLocks noGrp="1"/>
          </p:cNvSpPr>
          <p:nvPr>
            <p:ph type="sldNum" sz="quarter" idx="12"/>
          </p:nvPr>
        </p:nvSpPr>
        <p:spPr>
          <a:xfrm>
            <a:off x="10469880" y="320040"/>
            <a:ext cx="914400" cy="320040"/>
          </a:xfrm>
        </p:spPr>
        <p:txBody>
          <a:bodyPr/>
          <a:lstStyle/>
          <a:p>
            <a:fld id="{6B318863-449E-458D-B78F-7C7EEF8CD971}" type="slidenum">
              <a:rPr lang="en-US" smtClean="0"/>
              <a:t>‹#›</a:t>
            </a:fld>
            <a:endParaRPr lang="en-US"/>
          </a:p>
        </p:txBody>
      </p:sp>
    </p:spTree>
    <p:extLst>
      <p:ext uri="{BB962C8B-B14F-4D97-AF65-F5344CB8AC3E}">
        <p14:creationId xmlns:p14="http://schemas.microsoft.com/office/powerpoint/2010/main" val="3101229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B430D9E-DABB-45F6-99B7-DEC8BA3D0559}" type="datetimeFigureOut">
              <a:rPr lang="en-US" smtClean="0"/>
              <a:t>12/28/2025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B318863-449E-458D-B78F-7C7EEF8CD971}" type="slidenum">
              <a:rPr lang="en-US" smtClean="0"/>
              <a:t>‹#›</a:t>
            </a:fld>
            <a:endParaRPr lang="en-US"/>
          </a:p>
        </p:txBody>
      </p:sp>
    </p:spTree>
    <p:extLst>
      <p:ext uri="{BB962C8B-B14F-4D97-AF65-F5344CB8AC3E}">
        <p14:creationId xmlns:p14="http://schemas.microsoft.com/office/powerpoint/2010/main" val="131290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4B430D9E-DABB-45F6-99B7-DEC8BA3D0559}" type="datetimeFigureOut">
              <a:rPr lang="en-US" smtClean="0"/>
              <a:t>12/28/2025</a:t>
            </a:fld>
            <a:endParaRPr lang="en-US"/>
          </a:p>
        </p:txBody>
      </p:sp>
      <p:sp>
        <p:nvSpPr>
          <p:cNvPr id="3" name="Footer Placeholder 2"/>
          <p:cNvSpPr>
            <a:spLocks noGrp="1"/>
          </p:cNvSpPr>
          <p:nvPr>
            <p:ph type="ftr" sz="quarter" idx="11"/>
          </p:nvPr>
        </p:nvSpPr>
        <p:spPr>
          <a:xfrm>
            <a:off x="804672" y="6227064"/>
            <a:ext cx="10588752" cy="320040"/>
          </a:xfrm>
        </p:spPr>
        <p:txBody>
          <a:bodyPr/>
          <a:lstStyle/>
          <a:p>
            <a:endParaRPr lang="en-US"/>
          </a:p>
        </p:txBody>
      </p:sp>
      <p:sp>
        <p:nvSpPr>
          <p:cNvPr id="4" name="Slide Number Placeholder 3"/>
          <p:cNvSpPr>
            <a:spLocks noGrp="1"/>
          </p:cNvSpPr>
          <p:nvPr>
            <p:ph type="sldNum" sz="quarter" idx="12"/>
          </p:nvPr>
        </p:nvSpPr>
        <p:spPr>
          <a:xfrm>
            <a:off x="10469880" y="320040"/>
            <a:ext cx="914400" cy="320040"/>
          </a:xfrm>
        </p:spPr>
        <p:txBody>
          <a:bodyPr/>
          <a:lstStyle/>
          <a:p>
            <a:fld id="{6B318863-449E-458D-B78F-7C7EEF8CD971}" type="slidenum">
              <a:rPr lang="en-US" smtClean="0"/>
              <a:t>‹#›</a:t>
            </a:fld>
            <a:endParaRPr lang="en-US"/>
          </a:p>
        </p:txBody>
      </p:sp>
    </p:spTree>
    <p:extLst>
      <p:ext uri="{BB962C8B-B14F-4D97-AF65-F5344CB8AC3E}">
        <p14:creationId xmlns:p14="http://schemas.microsoft.com/office/powerpoint/2010/main" val="661020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B430D9E-DABB-45F6-99B7-DEC8BA3D0559}"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318863-449E-458D-B78F-7C7EEF8CD971}" type="slidenum">
              <a:rPr lang="en-US" smtClean="0"/>
              <a:t>‹#›</a:t>
            </a:fld>
            <a:endParaRPr lang="en-US"/>
          </a:p>
        </p:txBody>
      </p:sp>
    </p:spTree>
    <p:extLst>
      <p:ext uri="{BB962C8B-B14F-4D97-AF65-F5344CB8AC3E}">
        <p14:creationId xmlns:p14="http://schemas.microsoft.com/office/powerpoint/2010/main" val="2815000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4B430D9E-DABB-45F6-99B7-DEC8BA3D0559}" type="datetimeFigureOut">
              <a:rPr lang="en-US" smtClean="0"/>
              <a:t>12/28/2025</a:t>
            </a:fld>
            <a:endParaRPr lang="en-US"/>
          </a:p>
        </p:txBody>
      </p:sp>
      <p:sp>
        <p:nvSpPr>
          <p:cNvPr id="6" name="Footer Placeholder 5"/>
          <p:cNvSpPr>
            <a:spLocks noGrp="1"/>
          </p:cNvSpPr>
          <p:nvPr>
            <p:ph type="ftr" sz="quarter" idx="11"/>
          </p:nvPr>
        </p:nvSpPr>
        <p:spPr>
          <a:xfrm>
            <a:off x="804672" y="6227064"/>
            <a:ext cx="5942203" cy="320040"/>
          </a:xfrm>
        </p:spPr>
        <p:txBody>
          <a:bodyPr/>
          <a:lstStyle/>
          <a:p>
            <a:endParaRPr lang="en-US"/>
          </a:p>
        </p:txBody>
      </p:sp>
      <p:sp>
        <p:nvSpPr>
          <p:cNvPr id="7" name="Slide Number Placeholder 6"/>
          <p:cNvSpPr>
            <a:spLocks noGrp="1"/>
          </p:cNvSpPr>
          <p:nvPr>
            <p:ph type="sldNum" sz="quarter" idx="12"/>
          </p:nvPr>
        </p:nvSpPr>
        <p:spPr>
          <a:xfrm>
            <a:off x="5828377" y="320040"/>
            <a:ext cx="914400" cy="320040"/>
          </a:xfrm>
        </p:spPr>
        <p:txBody>
          <a:bodyPr/>
          <a:lstStyle/>
          <a:p>
            <a:fld id="{6B318863-449E-458D-B78F-7C7EEF8CD971}" type="slidenum">
              <a:rPr lang="en-US" smtClean="0"/>
              <a:t>‹#›</a:t>
            </a:fld>
            <a:endParaRPr lang="en-US"/>
          </a:p>
        </p:txBody>
      </p:sp>
    </p:spTree>
    <p:extLst>
      <p:ext uri="{BB962C8B-B14F-4D97-AF65-F5344CB8AC3E}">
        <p14:creationId xmlns:p14="http://schemas.microsoft.com/office/powerpoint/2010/main" val="4129559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430D9E-DABB-45F6-99B7-DEC8BA3D0559}"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318863-449E-458D-B78F-7C7EEF8CD971}" type="slidenum">
              <a:rPr lang="en-US" smtClean="0"/>
              <a:t>‹#›</a:t>
            </a:fld>
            <a:endParaRPr lang="en-US"/>
          </a:p>
        </p:txBody>
      </p:sp>
    </p:spTree>
    <p:extLst>
      <p:ext uri="{BB962C8B-B14F-4D97-AF65-F5344CB8AC3E}">
        <p14:creationId xmlns:p14="http://schemas.microsoft.com/office/powerpoint/2010/main" val="3684815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4B430D9E-DABB-45F6-99B7-DEC8BA3D0559}" type="datetimeFigureOut">
              <a:rPr lang="en-US" smtClean="0"/>
              <a:t>12/28/2025</a:t>
            </a:fld>
            <a:endParaRPr lang="en-US"/>
          </a:p>
        </p:txBody>
      </p:sp>
      <p:sp>
        <p:nvSpPr>
          <p:cNvPr id="5" name="Footer Placeholder 4"/>
          <p:cNvSpPr>
            <a:spLocks noGrp="1"/>
          </p:cNvSpPr>
          <p:nvPr>
            <p:ph type="ftr" sz="quarter" idx="11"/>
          </p:nvPr>
        </p:nvSpPr>
        <p:spPr>
          <a:xfrm>
            <a:off x="804672" y="6227064"/>
            <a:ext cx="10588752" cy="320040"/>
          </a:xfrm>
        </p:spPr>
        <p:txBody>
          <a:body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6B318863-449E-458D-B78F-7C7EEF8CD971}" type="slidenum">
              <a:rPr lang="en-US" smtClean="0"/>
              <a:t>‹#›</a:t>
            </a:fld>
            <a:endParaRPr lang="en-US"/>
          </a:p>
        </p:txBody>
      </p:sp>
    </p:spTree>
    <p:extLst>
      <p:ext uri="{BB962C8B-B14F-4D97-AF65-F5344CB8AC3E}">
        <p14:creationId xmlns:p14="http://schemas.microsoft.com/office/powerpoint/2010/main" val="2609126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4B430D9E-DABB-45F6-99B7-DEC8BA3D0559}" type="datetimeFigureOut">
              <a:rPr lang="en-US" smtClean="0"/>
              <a:t>12/28/2025</a:t>
            </a:fld>
            <a:endParaRPr 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B318863-449E-458D-B78F-7C7EEF8CD971}" type="slidenum">
              <a:rPr lang="en-US" smtClean="0"/>
              <a:t>‹#›</a:t>
            </a:fld>
            <a:endParaRPr lang="en-US"/>
          </a:p>
        </p:txBody>
      </p:sp>
    </p:spTree>
    <p:extLst>
      <p:ext uri="{BB962C8B-B14F-4D97-AF65-F5344CB8AC3E}">
        <p14:creationId xmlns:p14="http://schemas.microsoft.com/office/powerpoint/2010/main" val="56503325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6" name="Rectangle 125">
            <a:extLst>
              <a:ext uri="{FF2B5EF4-FFF2-40B4-BE49-F238E27FC236}">
                <a16:creationId xmlns:a16="http://schemas.microsoft.com/office/drawing/2014/main" id="{3F68D903-F26B-46F9-911C-92FEC6A69E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8" name="Group 127">
            <a:extLst>
              <a:ext uri="{FF2B5EF4-FFF2-40B4-BE49-F238E27FC236}">
                <a16:creationId xmlns:a16="http://schemas.microsoft.com/office/drawing/2014/main" id="{88E6E148-E023-4954-86E3-30141DFB5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a:noFill/>
        </p:grpSpPr>
        <p:sp>
          <p:nvSpPr>
            <p:cNvPr id="129" name="Freeform 5">
              <a:extLst>
                <a:ext uri="{FF2B5EF4-FFF2-40B4-BE49-F238E27FC236}">
                  <a16:creationId xmlns:a16="http://schemas.microsoft.com/office/drawing/2014/main" id="{0D3F982F-CC17-4661-8EAF-7BC5E6735A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17000"/>
                </a:schemeClr>
              </a:solidFill>
              <a:prstDash val="solid"/>
              <a:miter lim="800000"/>
              <a:headEnd/>
              <a:tailEnd/>
            </a:ln>
          </p:spPr>
          <p:txBody>
            <a:bodyPr/>
            <a:lstStyle/>
            <a:p>
              <a:endParaRPr lang="en-US"/>
            </a:p>
          </p:txBody>
        </p:sp>
        <p:sp>
          <p:nvSpPr>
            <p:cNvPr id="130" name="Freeform 6">
              <a:extLst>
                <a:ext uri="{FF2B5EF4-FFF2-40B4-BE49-F238E27FC236}">
                  <a16:creationId xmlns:a16="http://schemas.microsoft.com/office/drawing/2014/main" id="{90D37B37-763F-44D7-AEBC-44893638DA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p:spPr>
          <p:txBody>
            <a:bodyPr/>
            <a:lstStyle/>
            <a:p>
              <a:endParaRPr lang="en-US"/>
            </a:p>
          </p:txBody>
        </p:sp>
        <p:sp>
          <p:nvSpPr>
            <p:cNvPr id="131" name="Freeform 7">
              <a:extLst>
                <a:ext uri="{FF2B5EF4-FFF2-40B4-BE49-F238E27FC236}">
                  <a16:creationId xmlns:a16="http://schemas.microsoft.com/office/drawing/2014/main" id="{37E4608D-34B6-48E2-8243-67D04B36F5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18000"/>
                </a:schemeClr>
              </a:solidFill>
              <a:prstDash val="dash"/>
              <a:miter lim="800000"/>
              <a:headEnd/>
              <a:tailEnd/>
            </a:ln>
          </p:spPr>
          <p:txBody>
            <a:bodyPr/>
            <a:lstStyle/>
            <a:p>
              <a:endParaRPr lang="en-US"/>
            </a:p>
          </p:txBody>
        </p:sp>
        <p:sp>
          <p:nvSpPr>
            <p:cNvPr id="132" name="Freeform 8">
              <a:extLst>
                <a:ext uri="{FF2B5EF4-FFF2-40B4-BE49-F238E27FC236}">
                  <a16:creationId xmlns:a16="http://schemas.microsoft.com/office/drawing/2014/main" id="{F40C4AC8-50E7-49B1-8864-2CE8667010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15000"/>
                </a:schemeClr>
              </a:solidFill>
              <a:prstDash val="solid"/>
              <a:miter lim="800000"/>
              <a:headEnd/>
              <a:tailEnd/>
            </a:ln>
          </p:spPr>
          <p:txBody>
            <a:bodyPr/>
            <a:lstStyle/>
            <a:p>
              <a:endParaRPr lang="en-US"/>
            </a:p>
          </p:txBody>
        </p:sp>
        <p:sp>
          <p:nvSpPr>
            <p:cNvPr id="133" name="Freeform 9">
              <a:extLst>
                <a:ext uri="{FF2B5EF4-FFF2-40B4-BE49-F238E27FC236}">
                  <a16:creationId xmlns:a16="http://schemas.microsoft.com/office/drawing/2014/main" id="{8B74515D-097E-4D6D-9614-3EE424776F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15000"/>
                </a:schemeClr>
              </a:solidFill>
              <a:prstDash val="solid"/>
              <a:miter lim="800000"/>
              <a:headEnd/>
              <a:tailEnd/>
            </a:ln>
          </p:spPr>
          <p:txBody>
            <a:bodyPr/>
            <a:lstStyle/>
            <a:p>
              <a:endParaRPr lang="en-US"/>
            </a:p>
          </p:txBody>
        </p:sp>
        <p:sp>
          <p:nvSpPr>
            <p:cNvPr id="134" name="Freeform 10">
              <a:extLst>
                <a:ext uri="{FF2B5EF4-FFF2-40B4-BE49-F238E27FC236}">
                  <a16:creationId xmlns:a16="http://schemas.microsoft.com/office/drawing/2014/main" id="{B01B715E-8AF8-4069-AFF6-C4731F0C3B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14000"/>
                </a:schemeClr>
              </a:solidFill>
              <a:prstDash val="solid"/>
              <a:miter lim="800000"/>
              <a:headEnd/>
              <a:tailEnd/>
            </a:ln>
          </p:spPr>
          <p:txBody>
            <a:bodyPr/>
            <a:lstStyle/>
            <a:p>
              <a:endParaRPr lang="en-US"/>
            </a:p>
          </p:txBody>
        </p:sp>
        <p:sp>
          <p:nvSpPr>
            <p:cNvPr id="135" name="Freeform 11">
              <a:extLst>
                <a:ext uri="{FF2B5EF4-FFF2-40B4-BE49-F238E27FC236}">
                  <a16:creationId xmlns:a16="http://schemas.microsoft.com/office/drawing/2014/main" id="{E1E01D11-2228-4016-AD29-65D1C6DB26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13000"/>
                </a:schemeClr>
              </a:solidFill>
              <a:prstDash val="solid"/>
              <a:miter lim="800000"/>
              <a:headEnd/>
              <a:tailEnd/>
            </a:ln>
          </p:spPr>
          <p:txBody>
            <a:bodyPr/>
            <a:lstStyle/>
            <a:p>
              <a:endParaRPr lang="en-US"/>
            </a:p>
          </p:txBody>
        </p:sp>
        <p:sp>
          <p:nvSpPr>
            <p:cNvPr id="136" name="Freeform 12">
              <a:extLst>
                <a:ext uri="{FF2B5EF4-FFF2-40B4-BE49-F238E27FC236}">
                  <a16:creationId xmlns:a16="http://schemas.microsoft.com/office/drawing/2014/main" id="{1459FE25-5A43-4BCE-B99B-4F40DE8A4F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13000"/>
                </a:schemeClr>
              </a:solidFill>
              <a:prstDash val="solid"/>
              <a:miter lim="800000"/>
              <a:headEnd/>
              <a:tailEnd/>
            </a:ln>
          </p:spPr>
          <p:txBody>
            <a:bodyPr/>
            <a:lstStyle/>
            <a:p>
              <a:endParaRPr lang="en-US"/>
            </a:p>
          </p:txBody>
        </p:sp>
        <p:sp>
          <p:nvSpPr>
            <p:cNvPr id="137" name="Freeform 13">
              <a:extLst>
                <a:ext uri="{FF2B5EF4-FFF2-40B4-BE49-F238E27FC236}">
                  <a16:creationId xmlns:a16="http://schemas.microsoft.com/office/drawing/2014/main" id="{3B23074C-316F-47BD-8C6B-EC2FF4952F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12000"/>
                </a:schemeClr>
              </a:solidFill>
              <a:prstDash val="dash"/>
              <a:miter lim="800000"/>
              <a:headEnd/>
              <a:tailEnd/>
            </a:ln>
          </p:spPr>
          <p:txBody>
            <a:bodyPr/>
            <a:lstStyle/>
            <a:p>
              <a:endParaRPr lang="en-US"/>
            </a:p>
          </p:txBody>
        </p:sp>
        <p:sp>
          <p:nvSpPr>
            <p:cNvPr id="138" name="Freeform 14">
              <a:extLst>
                <a:ext uri="{FF2B5EF4-FFF2-40B4-BE49-F238E27FC236}">
                  <a16:creationId xmlns:a16="http://schemas.microsoft.com/office/drawing/2014/main" id="{A8080108-D92A-4D64-AFA7-DCCBAF669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12000"/>
                </a:schemeClr>
              </a:solidFill>
              <a:prstDash val="dash"/>
              <a:miter lim="800000"/>
              <a:headEnd/>
              <a:tailEnd/>
            </a:ln>
          </p:spPr>
          <p:txBody>
            <a:bodyPr/>
            <a:lstStyle/>
            <a:p>
              <a:endParaRPr lang="en-US"/>
            </a:p>
          </p:txBody>
        </p:sp>
        <p:sp>
          <p:nvSpPr>
            <p:cNvPr id="139" name="Freeform 15">
              <a:extLst>
                <a:ext uri="{FF2B5EF4-FFF2-40B4-BE49-F238E27FC236}">
                  <a16:creationId xmlns:a16="http://schemas.microsoft.com/office/drawing/2014/main" id="{4CDA9133-E392-4602-8F72-342B0F2B15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12000"/>
                </a:schemeClr>
              </a:solidFill>
              <a:prstDash val="dashDot"/>
              <a:miter lim="800000"/>
              <a:headEnd/>
              <a:tailEnd/>
            </a:ln>
          </p:spPr>
          <p:txBody>
            <a:bodyPr/>
            <a:lstStyle/>
            <a:p>
              <a:endParaRPr lang="en-US"/>
            </a:p>
          </p:txBody>
        </p:sp>
        <p:sp>
          <p:nvSpPr>
            <p:cNvPr id="140" name="Freeform 16">
              <a:extLst>
                <a:ext uri="{FF2B5EF4-FFF2-40B4-BE49-F238E27FC236}">
                  <a16:creationId xmlns:a16="http://schemas.microsoft.com/office/drawing/2014/main" id="{41574FAC-64B1-48BF-9962-5F1D6F2931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12000"/>
                </a:schemeClr>
              </a:solidFill>
              <a:prstDash val="dashDot"/>
              <a:miter lim="800000"/>
              <a:headEnd/>
              <a:tailEnd/>
            </a:ln>
          </p:spPr>
          <p:txBody>
            <a:bodyPr/>
            <a:lstStyle/>
            <a:p>
              <a:endParaRPr lang="en-US"/>
            </a:p>
          </p:txBody>
        </p:sp>
        <p:sp>
          <p:nvSpPr>
            <p:cNvPr id="141" name="Freeform 17">
              <a:extLst>
                <a:ext uri="{FF2B5EF4-FFF2-40B4-BE49-F238E27FC236}">
                  <a16:creationId xmlns:a16="http://schemas.microsoft.com/office/drawing/2014/main" id="{3C0763C8-12E2-42A2-96FE-5731CDF293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12000"/>
                </a:schemeClr>
              </a:solidFill>
              <a:prstDash val="solid"/>
              <a:miter lim="800000"/>
              <a:headEnd/>
              <a:tailEnd/>
            </a:ln>
          </p:spPr>
          <p:txBody>
            <a:bodyPr/>
            <a:lstStyle/>
            <a:p>
              <a:endParaRPr lang="en-US"/>
            </a:p>
          </p:txBody>
        </p:sp>
        <p:sp>
          <p:nvSpPr>
            <p:cNvPr id="142" name="Freeform 18">
              <a:extLst>
                <a:ext uri="{FF2B5EF4-FFF2-40B4-BE49-F238E27FC236}">
                  <a16:creationId xmlns:a16="http://schemas.microsoft.com/office/drawing/2014/main" id="{FA456C9D-7219-467B-B2AD-D5789A7D24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12000"/>
                </a:schemeClr>
              </a:solidFill>
              <a:prstDash val="solid"/>
              <a:miter lim="800000"/>
              <a:headEnd/>
              <a:tailEnd/>
            </a:ln>
          </p:spPr>
          <p:txBody>
            <a:bodyPr/>
            <a:lstStyle/>
            <a:p>
              <a:endParaRPr lang="en-US"/>
            </a:p>
          </p:txBody>
        </p:sp>
        <p:sp>
          <p:nvSpPr>
            <p:cNvPr id="143" name="Freeform 19">
              <a:extLst>
                <a:ext uri="{FF2B5EF4-FFF2-40B4-BE49-F238E27FC236}">
                  <a16:creationId xmlns:a16="http://schemas.microsoft.com/office/drawing/2014/main" id="{77284864-DE74-4A45-AD93-F630350402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11000"/>
                </a:schemeClr>
              </a:solidFill>
              <a:prstDash val="solid"/>
              <a:miter lim="800000"/>
              <a:headEnd/>
              <a:tailEnd/>
            </a:ln>
          </p:spPr>
          <p:txBody>
            <a:bodyPr/>
            <a:lstStyle/>
            <a:p>
              <a:endParaRPr lang="en-US"/>
            </a:p>
          </p:txBody>
        </p:sp>
        <p:sp>
          <p:nvSpPr>
            <p:cNvPr id="144" name="Freeform 20">
              <a:extLst>
                <a:ext uri="{FF2B5EF4-FFF2-40B4-BE49-F238E27FC236}">
                  <a16:creationId xmlns:a16="http://schemas.microsoft.com/office/drawing/2014/main" id="{2ECA1844-43F9-45F6-B52D-4854DBC48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11000"/>
                </a:schemeClr>
              </a:solidFill>
              <a:prstDash val="solid"/>
              <a:miter lim="800000"/>
              <a:headEnd/>
              <a:tailEnd/>
            </a:ln>
          </p:spPr>
          <p:txBody>
            <a:bodyPr/>
            <a:lstStyle/>
            <a:p>
              <a:endParaRPr lang="en-US"/>
            </a:p>
          </p:txBody>
        </p:sp>
        <p:sp>
          <p:nvSpPr>
            <p:cNvPr id="145" name="Freeform 21">
              <a:extLst>
                <a:ext uri="{FF2B5EF4-FFF2-40B4-BE49-F238E27FC236}">
                  <a16:creationId xmlns:a16="http://schemas.microsoft.com/office/drawing/2014/main" id="{F9ECEA64-1836-4323-A0A3-D4F8291120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10000"/>
                </a:schemeClr>
              </a:solidFill>
              <a:prstDash val="solid"/>
              <a:miter lim="800000"/>
              <a:headEnd/>
              <a:tailEnd/>
            </a:ln>
          </p:spPr>
          <p:txBody>
            <a:bodyPr/>
            <a:lstStyle/>
            <a:p>
              <a:endParaRPr lang="en-US"/>
            </a:p>
          </p:txBody>
        </p:sp>
        <p:sp>
          <p:nvSpPr>
            <p:cNvPr id="146" name="Freeform 22">
              <a:extLst>
                <a:ext uri="{FF2B5EF4-FFF2-40B4-BE49-F238E27FC236}">
                  <a16:creationId xmlns:a16="http://schemas.microsoft.com/office/drawing/2014/main" id="{950F914B-7F44-4D5A-97BB-4BE453F4A4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10000"/>
                </a:schemeClr>
              </a:solidFill>
              <a:prstDash val="dash"/>
              <a:miter lim="800000"/>
              <a:headEnd/>
              <a:tailEnd/>
            </a:ln>
          </p:spPr>
          <p:txBody>
            <a:bodyPr/>
            <a:lstStyle/>
            <a:p>
              <a:endParaRPr lang="en-US"/>
            </a:p>
          </p:txBody>
        </p:sp>
        <p:sp>
          <p:nvSpPr>
            <p:cNvPr id="147" name="Freeform 23">
              <a:extLst>
                <a:ext uri="{FF2B5EF4-FFF2-40B4-BE49-F238E27FC236}">
                  <a16:creationId xmlns:a16="http://schemas.microsoft.com/office/drawing/2014/main" id="{A3EFB651-6736-424B-995D-48C4B0E558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10000"/>
                </a:schemeClr>
              </a:solidFill>
              <a:prstDash val="solid"/>
              <a:miter lim="800000"/>
              <a:headEnd/>
              <a:tailEnd/>
            </a:ln>
          </p:spPr>
          <p:txBody>
            <a:bodyPr/>
            <a:lstStyle/>
            <a:p>
              <a:endParaRPr lang="en-US"/>
            </a:p>
          </p:txBody>
        </p:sp>
      </p:grpSp>
      <p:grpSp>
        <p:nvGrpSpPr>
          <p:cNvPr id="149" name="Group 148">
            <a:extLst>
              <a:ext uri="{FF2B5EF4-FFF2-40B4-BE49-F238E27FC236}">
                <a16:creationId xmlns:a16="http://schemas.microsoft.com/office/drawing/2014/main" id="{1FB4E014-64CE-4D11-A129-94A1893FA6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150" name="Rectangle 149">
              <a:extLst>
                <a:ext uri="{FF2B5EF4-FFF2-40B4-BE49-F238E27FC236}">
                  <a16:creationId xmlns:a16="http://schemas.microsoft.com/office/drawing/2014/main" id="{DFBDC1C1-8061-451F-8181-9F0402645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1" name="Isosceles Triangle 150">
              <a:extLst>
                <a:ext uri="{FF2B5EF4-FFF2-40B4-BE49-F238E27FC236}">
                  <a16:creationId xmlns:a16="http://schemas.microsoft.com/office/drawing/2014/main" id="{C35F105D-10BD-4664-8966-82DC76172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2" name="Rectangle 151">
              <a:extLst>
                <a:ext uri="{FF2B5EF4-FFF2-40B4-BE49-F238E27FC236}">
                  <a16:creationId xmlns:a16="http://schemas.microsoft.com/office/drawing/2014/main" id="{6C9E557E-56E2-4C47-BB57-B5D2A4FB3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7B77149-02BE-90F1-D826-11A4723E1D75}"/>
              </a:ext>
            </a:extLst>
          </p:cNvPr>
          <p:cNvSpPr>
            <a:spLocks noGrp="1"/>
          </p:cNvSpPr>
          <p:nvPr>
            <p:ph type="ctrTitle"/>
          </p:nvPr>
        </p:nvSpPr>
        <p:spPr>
          <a:xfrm>
            <a:off x="1759236" y="2301230"/>
            <a:ext cx="8679915" cy="629470"/>
          </a:xfrm>
        </p:spPr>
        <p:txBody>
          <a:bodyPr anchor="b">
            <a:normAutofit/>
          </a:bodyPr>
          <a:lstStyle/>
          <a:p>
            <a:r>
              <a:rPr lang="en-US" sz="2400" b="1" dirty="0">
                <a:latin typeface="Times New Roman" panose="02020603050405020304" pitchFamily="18" charset="0"/>
                <a:cs typeface="Times New Roman" panose="02020603050405020304" pitchFamily="18" charset="0"/>
              </a:rPr>
              <a:t>HOSPITAL PATIENT ANALYSIS</a:t>
            </a:r>
          </a:p>
        </p:txBody>
      </p:sp>
      <p:sp>
        <p:nvSpPr>
          <p:cNvPr id="3" name="Subtitle 2">
            <a:extLst>
              <a:ext uri="{FF2B5EF4-FFF2-40B4-BE49-F238E27FC236}">
                <a16:creationId xmlns:a16="http://schemas.microsoft.com/office/drawing/2014/main" id="{0CB13083-AEC8-172E-6694-88648BB63896}"/>
              </a:ext>
            </a:extLst>
          </p:cNvPr>
          <p:cNvSpPr>
            <a:spLocks noGrp="1"/>
          </p:cNvSpPr>
          <p:nvPr>
            <p:ph type="subTitle" idx="1"/>
          </p:nvPr>
        </p:nvSpPr>
        <p:spPr>
          <a:xfrm>
            <a:off x="1759237" y="3741809"/>
            <a:ext cx="8673427" cy="629470"/>
          </a:xfrm>
        </p:spPr>
        <p:txBody>
          <a:bodyPr>
            <a:normAutofit/>
          </a:bodyPr>
          <a:lstStyle/>
          <a:p>
            <a:r>
              <a:rPr lang="en-US" b="1" dirty="0">
                <a:latin typeface="Times New Roman" panose="02020603050405020304" pitchFamily="18" charset="0"/>
                <a:cs typeface="Times New Roman" panose="02020603050405020304" pitchFamily="18" charset="0"/>
              </a:rPr>
              <a:t>POWERBI CAPSTONE PROJECT DONE BY EIGBE FAVOUR OFURE</a:t>
            </a:r>
          </a:p>
        </p:txBody>
      </p:sp>
    </p:spTree>
    <p:extLst>
      <p:ext uri="{BB962C8B-B14F-4D97-AF65-F5344CB8AC3E}">
        <p14:creationId xmlns:p14="http://schemas.microsoft.com/office/powerpoint/2010/main" val="277339251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3392FC7-8252-EAFB-E737-A03332621EC0}"/>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15E1AC81-83F2-45A8-9054-15570F4E25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B15AA7C5-9BFE-4B90-A119-467AFACE9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944AB87D-35AF-4719-9940-5822E7702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E8B33BE3-7890-4628-9322-7EFBA3375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01AD3ECF-519E-45E2-99DA-F5C1B5071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C050E700-0FF1-4D25-B54C-84BA04FCD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720D9C11-F5C9-41B0-B2F2-EE20BC3D0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623A9DA0-857E-4CDE-80EA-F30F1CE55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C48B8F4C-2C83-46F6-AFCD-58166AEB18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234C3795-C44D-41A7-A8F6-891387A66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91CC36F4-5DFA-4954-B354-97B180E98F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7087A08E-C024-457D-8F99-1F340CED6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61CFBC61-7F57-45D7-860E-BF51B0EDA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2591C3DB-4880-431E-BC3D-37F1378AC5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79557EFE-4199-4E24-8A13-1B9CC1715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0B965615-6052-4907-A136-9CAD14604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F788FFC4-205D-47C1-91E7-DD1A52E0A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462FADD6-C927-46ED-A6E6-273B35C2F1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AF64005E-134D-4444-9425-FB1C188985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E2565CA7-A8CB-463D-8D25-4F41235BC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41ABBFC0-4EEA-4634-A73B-945729D6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E422F11F-726A-4A93-9D1B-B1400B061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FBF129BC-EA9E-4D20-898B-399F7727DF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CFF42BAE-3249-46C8-9108-A83C87206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4DDE2BA8-4174-4A99-BB09-0BA28F2685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4A893933-F7DD-4DA6-85C7-4CFF58741E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29831267-5CAE-41B8-A1CC-66FE1628A6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379EE808-85F9-455B-B8F9-FBE90075FB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C89DCC09-ED44-478A-8F79-A02EBAF7A5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8E2E2454-5C03-4173-B8FE-1AB94658D4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2E8C684E-09F3-4317-A7D3-3D18C35931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C5505EC4-4943-4963-98E8-69AF3FDF03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4562C7B8-8AFB-4DDB-B72F-284990D5C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C3443E48-282C-4250-A466-0EC71FB9E1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E1DA5A47-4EF3-4987-A0B2-0D48C03004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B97C0249-6965-4479-85DD-65D339807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593CC77F-968A-4E39-A274-8278279149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1238E5CF-CAEC-4B5C-9DB6-A40F03FB3A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BBD96636-6E63-4D65-A35C-92653FC48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8D56D53D-1432-4D95-B0DD-3799916FD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415107AD-3A21-4847-8F6C-C40629276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74B4AC16-93AF-4037-B469-BD1BAB95C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57AEC385-0F84-4743-A483-0E97114463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90B47478-85F0-4BCA-9C98-48B633FD5A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C8F8E9C6-76DE-42DF-9CD7-B9789CDE15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660FFC41-5F89-4B42-913F-7FB1780636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1B956442-7A16-4B5B-908F-D69FC0A933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B54D797E-632B-4287-907B-A96D2CCBF4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BF7D9703-D82B-498D-AA68-475F298FAA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F8D580F2-1EDA-4B5F-98EB-EF8F18E9B7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E0F2EADF-2A67-482F-B290-DED5172BB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39BCFDA0-B04D-4835-A135-02F8969F3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6DD3C0B8-C176-40C2-93F5-670E2BAC7D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1101B1FD-BDC4-C0B5-FE11-7625EBCD67BA}"/>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HOSPITAL MANAGEMENT ANALYSIS</a:t>
            </a:r>
          </a:p>
        </p:txBody>
      </p:sp>
      <p:pic>
        <p:nvPicPr>
          <p:cNvPr id="3" name="Picture 2">
            <a:extLst>
              <a:ext uri="{FF2B5EF4-FFF2-40B4-BE49-F238E27FC236}">
                <a16:creationId xmlns:a16="http://schemas.microsoft.com/office/drawing/2014/main" id="{ED7A9336-05E0-BEBC-F7DA-BCE6598BCDB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902450" y="9524"/>
            <a:ext cx="5259387" cy="6834189"/>
          </a:xfrm>
          <a:prstGeom prst="rect">
            <a:avLst/>
          </a:prstGeom>
        </p:spPr>
      </p:pic>
    </p:spTree>
    <p:extLst>
      <p:ext uri="{BB962C8B-B14F-4D97-AF65-F5344CB8AC3E}">
        <p14:creationId xmlns:p14="http://schemas.microsoft.com/office/powerpoint/2010/main" val="4073037556"/>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C710FBA-02C7-92C3-C0E7-4B6D3D34483F}"/>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22AF69F5-FAFC-330D-A3C6-75BE159645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E9BAE728-FBB0-455D-9C6F-7CCA9D7190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518E48A7-2D14-ED3D-42E8-D3762BAB0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13E1F6F0-7AA6-DB88-3564-76FD025C4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A51E1A15-C605-CBD8-748B-9A02C07F21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A076A43B-0CE0-C574-A9CC-BD0EEC1BE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8D30143F-1BB7-6FA9-865C-56F738CA87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E07D18F8-96D2-ABFD-AC94-94428AC14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3C87D5C4-930C-FAD2-8613-792915851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9C9063AA-F1EE-D943-0E85-3F458B82BE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F07E9F39-1CFA-0047-0D50-B3B668B60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CABE40FD-C3EC-0719-188A-5D82DC528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9DC87D5B-10BB-8F5C-5C71-10B01187F2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591BB930-1E96-C78C-C865-15405CAAF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F4B808CD-66FE-DFD3-3135-42118A454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3EB80B80-5F58-8E20-F3C0-58AF18B634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39730FDF-A361-186A-ECBE-63E9079418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E46FF713-6EE8-98E7-DBB5-789837506E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AE0D91B2-E682-D978-CD9B-A19A2FE052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95349565-4EE8-BFB0-B5B7-202D25AC4A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7B38D446-260E-C4B8-0186-4024BB9645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68A3CCA6-D978-8D8F-E8CC-8BAD88B15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83D07B42-122D-011C-9B79-07B3FC932F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565D611B-FE84-A36C-4FB2-C18EB51EF0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81164427-35A4-2AC2-BA0B-46B1725EE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06999E12-EA13-DD50-A77E-C34E025515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D0125E14-15C5-292E-79B3-FD6989BFA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4C5A1117-653F-BAD3-7DC8-4580EF990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A0A5C4A0-7398-7619-C23C-63785BE36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8038EB71-A5DC-40DB-C5CD-19ED9FE56B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D059BCA4-D85D-901B-526B-2FC13C0C40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4661227A-AE11-C6C6-DDD7-F2FB442BD8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7276ABBA-B59A-FF44-85E7-D666F8DF15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13450667-CF05-ED99-4E3B-087B37958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B67AF719-0137-FB59-4099-E81026B771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82024B82-B821-1BC1-58A4-101A4CE9F2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15C10A16-38FD-808D-395A-EA7857359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5A1FE201-A2DC-DA88-3F79-303E300C2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1B2B49F1-E667-13BA-CD18-074E5A6270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51476243-65F2-FDE9-C5DA-0D678669DC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F9F9CA10-A7FA-63EB-7850-7282BA254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23539FA2-8C07-6A07-2E82-67C6D75A7D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3172A00B-D41B-4D64-47CA-891BF6D306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2716AE08-3681-5ACE-95A7-3267C7598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1497F0FF-87E4-3AC1-1112-F72E67F3F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A2A20B72-D157-7C1C-B39C-AD2F19C598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EC0D9312-578E-5563-B4D3-198ADBBC5B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83A473F6-3682-A665-B27C-989C33BD3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8EA6D197-B22F-EA63-7C74-D5AE616358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7CCE9747-D128-490A-9256-42440BC924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64E92DC3-BBA5-E4C3-764E-0AE2940F19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612EFFEA-8475-827A-EBBB-3F560D7EE3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E8FD5FF0-2444-2602-E3B9-7D8FE1368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E35B1D83-4BB5-6ABF-29F0-9AE021988EBA}"/>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INTRODUCTION</a:t>
            </a:r>
          </a:p>
        </p:txBody>
      </p:sp>
      <p:sp>
        <p:nvSpPr>
          <p:cNvPr id="6" name="Subtitle 5">
            <a:extLst>
              <a:ext uri="{FF2B5EF4-FFF2-40B4-BE49-F238E27FC236}">
                <a16:creationId xmlns:a16="http://schemas.microsoft.com/office/drawing/2014/main" id="{E5F142F4-58F7-9051-124B-D26FC144A750}"/>
              </a:ext>
            </a:extLst>
          </p:cNvPr>
          <p:cNvSpPr>
            <a:spLocks noGrp="1"/>
          </p:cNvSpPr>
          <p:nvPr>
            <p:ph type="subTitle" idx="1"/>
          </p:nvPr>
        </p:nvSpPr>
        <p:spPr>
          <a:xfrm>
            <a:off x="5061710" y="1630559"/>
            <a:ext cx="6323953" cy="3267048"/>
          </a:xfrm>
          <a:solidFill>
            <a:schemeClr val="bg2"/>
          </a:solidFill>
        </p:spPr>
        <p:txBody>
          <a:bodyPr vert="horz" lIns="91440" tIns="45720" rIns="91440" bIns="45720" rtlCol="0" anchor="ctr">
            <a:noAutofit/>
          </a:bodyPr>
          <a:lstStyle/>
          <a:p>
            <a:pPr algn="l">
              <a:lnSpc>
                <a:spcPct val="90000"/>
              </a:lnSpc>
            </a:pPr>
            <a:r>
              <a:rPr lang="en-US" dirty="0">
                <a:solidFill>
                  <a:schemeClr val="tx1"/>
                </a:solidFill>
                <a:latin typeface="Times New Roman" panose="02020603050405020304" pitchFamily="18" charset="0"/>
                <a:cs typeface="Times New Roman" panose="02020603050405020304" pitchFamily="18" charset="0"/>
              </a:rPr>
              <a:t>This project uses interactive Power BI dashboards to evaluate hospital performance across operations, patients, and clinical activities. </a:t>
            </a:r>
          </a:p>
          <a:p>
            <a:pPr algn="l">
              <a:lnSpc>
                <a:spcPct val="90000"/>
              </a:lnSpc>
            </a:pPr>
            <a:r>
              <a:rPr lang="en-US" dirty="0">
                <a:solidFill>
                  <a:schemeClr val="tx1"/>
                </a:solidFill>
                <a:latin typeface="Times New Roman" panose="02020603050405020304" pitchFamily="18" charset="0"/>
                <a:cs typeface="Times New Roman" panose="02020603050405020304" pitchFamily="18" charset="0"/>
              </a:rPr>
              <a:t>It highlights claim costs, encounter volumes, procedure types, and demographics, showing how patient activity connects to financial outcomes.</a:t>
            </a:r>
          </a:p>
          <a:p>
            <a:pPr algn="l">
              <a:lnSpc>
                <a:spcPct val="90000"/>
              </a:lnSpc>
            </a:pPr>
            <a:r>
              <a:rPr lang="en-US" dirty="0">
                <a:solidFill>
                  <a:schemeClr val="tx1"/>
                </a:solidFill>
                <a:latin typeface="Times New Roman" panose="02020603050405020304" pitchFamily="18" charset="0"/>
                <a:cs typeface="Times New Roman" panose="02020603050405020304" pitchFamily="18" charset="0"/>
              </a:rPr>
              <a:t>The goal is to guide better hospital management and improve patient care.</a:t>
            </a:r>
          </a:p>
        </p:txBody>
      </p:sp>
    </p:spTree>
    <p:extLst>
      <p:ext uri="{BB962C8B-B14F-4D97-AF65-F5344CB8AC3E}">
        <p14:creationId xmlns:p14="http://schemas.microsoft.com/office/powerpoint/2010/main" val="2967345423"/>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CC50133-E2C2-5D22-1DF5-9104917B452B}"/>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D23E9E9E-0050-6236-A7F5-4845302A6C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73AAE72F-26F9-2BDF-BF31-95098AEE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ADA322D2-77DA-4DB8-F4C9-36EB9485A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EC4DD632-721B-658A-1024-B3D1876F84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F4F99715-590E-A56C-AB64-DB96C799D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96AC4A2E-E29F-F645-BD1B-26211CEEB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858C2208-0FD2-AC38-C490-4182915F0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32D552C4-6413-AB1C-1B8D-234FF2A916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F79470DC-9173-867C-B4E3-F7C9996C9B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C1406061-ECB6-B09A-078B-E4AEC380DD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84BB8361-D89D-AD03-1B44-99D04290D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F716EA19-C537-0856-F9A8-DB0343244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A7E6E243-0283-455F-24A5-4680B8C9D2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CBB75BCA-F127-640D-8827-E14EB25935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6603955F-EA73-E16B-B1E2-175C3411CD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2A672BBE-62D0-BBE0-1535-D48AB9D75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90072DE1-38F7-C21C-7724-2633C997D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A861AD4C-FD92-BFB2-0942-A8A7A9871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58B64395-98AB-6F39-0223-3ADC35ECD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2EA7CA96-AC32-4CF5-851F-4EE5E3BDD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9AF50443-8AD0-17DC-B2DD-D957464190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81D01E98-17CF-6EE2-334C-1B11F2B25C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21FF9BC8-080D-E769-293C-2E408E2C1D9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4EE8CB26-745B-0016-59CC-708F8582D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2472C954-D170-07A8-C65A-2DEB63A71E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D936EE5C-CB05-3BE9-3AAA-8EEE2D60AE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DA5DF18F-C719-36DC-034E-34B2A7DE4F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2B2F3DD6-D12D-5626-A7CF-55DCCF1784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5E490640-2A56-1048-FCE9-D706C6E2F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B8FC8F80-0A8F-8026-BFBD-0567A7EB0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B564CC61-937E-4348-F13B-E7B422964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8760D56B-CB5C-8CB2-8FB8-8CE5C487C7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7C6C10D4-CBF9-5D83-C09C-9DA15BDF59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FAFE76B6-9BC4-7E0A-2266-DEDE67EB94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740C04F5-AD2F-9403-1BF8-92D047FAF6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4BA8DFBE-A89D-B697-5BE7-C589FCA408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3AAFC1B4-E569-12CE-45C9-571E2918F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D1A0C380-1312-77A9-C8E0-825D2B2FCA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291FB83C-0C3F-5632-F872-C05D3A167D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B76281F2-C208-6606-BA7F-BB912C09DB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E6B434A4-A543-C779-6BEE-6647DB30F1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5E6D31C5-BD25-E10A-A66E-B4BEF60252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E59805CF-DDE5-E48B-10CD-83619A82C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E168B719-FB5B-8CCD-2CF7-F94DB8C413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8BB35BCC-40DA-309F-CEF2-917AF65D7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856457BA-F3EE-21B2-C129-08B152BDF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220403FC-640B-2189-8D87-9C1C467DE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A837F69F-4AEE-E43A-EC0B-A7D650567C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B977D871-5EC6-861A-244D-A9F7C5F565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02E98AA9-79EB-58DD-2D3E-2E339E2819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23C4D9D4-0A1F-43FB-1E62-4373EF160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C36DFD08-8D34-CD56-92BC-C82938D784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7E76E87E-3233-1554-CCD5-AF0919EA4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CA9762CF-35A4-2E75-670B-E49A855F536E}"/>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OBJECTIVES</a:t>
            </a:r>
            <a:br>
              <a:rPr 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6" name="Subtitle 5">
            <a:extLst>
              <a:ext uri="{FF2B5EF4-FFF2-40B4-BE49-F238E27FC236}">
                <a16:creationId xmlns:a16="http://schemas.microsoft.com/office/drawing/2014/main" id="{DF32FFC4-A16F-F1DB-6D1B-DCA4FB75B0F5}"/>
              </a:ext>
            </a:extLst>
          </p:cNvPr>
          <p:cNvSpPr>
            <a:spLocks noGrp="1"/>
          </p:cNvSpPr>
          <p:nvPr>
            <p:ph type="subTitle" idx="1"/>
          </p:nvPr>
        </p:nvSpPr>
        <p:spPr>
          <a:xfrm>
            <a:off x="5168901" y="1623317"/>
            <a:ext cx="6216763" cy="2815119"/>
          </a:xfrm>
          <a:solidFill>
            <a:schemeClr val="bg2"/>
          </a:solidFill>
        </p:spPr>
        <p:txBody>
          <a:bodyPr vert="horz" lIns="91440" tIns="45720" rIns="91440" bIns="45720" rtlCol="0" anchor="ctr">
            <a:noAutofit/>
          </a:bodyPr>
          <a:lstStyle/>
          <a:p>
            <a:pPr algn="l"/>
            <a:r>
              <a:rPr lang="en-US" dirty="0">
                <a:solidFill>
                  <a:schemeClr val="tx1"/>
                </a:solidFill>
                <a:latin typeface="Times New Roman" panose="02020603050405020304" pitchFamily="18" charset="0"/>
                <a:cs typeface="Times New Roman" panose="02020603050405020304" pitchFamily="18" charset="0"/>
              </a:rPr>
              <a:t>The objective is to analyze hospital performance across encounters, payers, and patient demographics to identify high-demand and high-cost areas. </a:t>
            </a:r>
          </a:p>
          <a:p>
            <a:pPr algn="l"/>
            <a:r>
              <a:rPr lang="en-US" dirty="0">
                <a:solidFill>
                  <a:schemeClr val="tx1"/>
                </a:solidFill>
                <a:latin typeface="Times New Roman" panose="02020603050405020304" pitchFamily="18" charset="0"/>
                <a:cs typeface="Times New Roman" panose="02020603050405020304" pitchFamily="18" charset="0"/>
              </a:rPr>
              <a:t>By linking clinical activity with financial outcomes, the dashboard supports decisions that improve efficiency, optimize resources, boost revenue, and enhance patient care.</a:t>
            </a:r>
          </a:p>
        </p:txBody>
      </p:sp>
    </p:spTree>
    <p:extLst>
      <p:ext uri="{BB962C8B-B14F-4D97-AF65-F5344CB8AC3E}">
        <p14:creationId xmlns:p14="http://schemas.microsoft.com/office/powerpoint/2010/main" val="283043004"/>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A75AAF9-E5E3-A3F4-F290-0BA746B9AE15}"/>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577F5E2B-7EA4-F120-277B-03C97FF631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917BF7B2-69C9-9222-4AEA-095E3E5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D5F8BFD3-FB48-170C-F212-4C2B59243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69E7C294-5ED8-244C-8932-5C05EB7043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61EEC429-A208-3D74-EE00-0AEEB284C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DC361E1B-991C-1954-217A-7949BC088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15827FE2-5662-E356-8335-E313196CF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2EDD37E9-D523-8211-4541-89B8FA737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35480F51-6FF2-A8AA-05E6-2077E1F645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9B14EBA0-6C6B-E132-6D5C-6DB87D113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2B7952DB-4747-D150-18FF-5B37317114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E25E2F95-70BC-32BB-9F3E-B44B25C114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041C9C66-F54E-9833-244B-9583FA7A61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8952DE21-72A3-74E1-B062-48FD33EB62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8927895C-3077-A7FA-74BB-7CD803B4E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6AAC3FA5-AADF-9285-8A42-93AFC8D2E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F7A40F82-162B-645B-FBEE-D1D92C4B66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85FBA761-FFD7-63D5-C2F8-0CA8C38CE6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5C60585F-8708-0060-6A4E-835B541274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D14AF279-F369-D2AD-685C-BF9B3A121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14141820-7694-AE59-7593-196E210695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F8624487-794E-6F56-7CBB-B27E6924BE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05066595-7025-D6C7-9A0D-C3EFCA2710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D81F3DC4-87D3-1FBB-69DF-17FC8F4B23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231C6828-921F-820A-9307-9FA1A651D7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CC913DAB-D83F-3443-544C-E2EB4D47BD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E23F9A92-99C5-8C4E-0FA3-85749305D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9D38772F-37CE-1565-39E0-3C7D9295E4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4BAB15A9-61A8-2AB3-ABDE-39D095D7F8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CB2F6AC9-A1E1-1917-94FD-92407E67E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F4AB2339-DE0E-6469-AAA6-CA406BC24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129839B1-2447-F525-1FD4-25D3A0088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93A89F39-AE5A-BAE6-B260-1A7623254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4BE116F1-B42C-F00B-0E6E-0295394E9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C376A085-6893-B017-8F12-BABE3172CE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56C7E1D1-53FB-16CC-EB0A-D52CA6BC41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0DFAB1EA-7527-D277-25D3-E412B5836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728EBD7B-A893-5513-0C11-7988C58A9F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AD9125CC-A53C-E586-01A6-E8D9DD434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4B410556-AD98-3FBF-5068-9C5D25618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7481F4B7-B328-78A3-91B4-5F79921A2E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DB95DA20-A7F5-277B-100A-900F038BFD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4D1C1F7C-F5A2-5221-3230-30B5078F8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99169BD7-DEB5-A60E-0224-278D07F7F9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C939C9F3-FEDF-6548-2A03-4E94D8C5D6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F97B7653-FBA6-4888-4D72-7A46ECDA1C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C6E6422B-B44E-BA6A-DFDF-30D48385AA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9CCF0DE6-9B06-4473-7C28-998F6FF336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D40296CC-863B-29BA-53F2-C83B71D6A8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EA0C1CF9-6F34-0A05-1637-46303150B2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4D37CA56-C8C0-B7D4-CCCD-CEC8FC5BA2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28FE7F02-9EE7-8A67-D22D-7E7406BF0B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FC17FEFF-1909-D72B-A29B-7B9E3F522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6B2CB32E-EF13-AA9A-035B-7AB032DF25CD}"/>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BUSINESS QUESTIONS</a:t>
            </a:r>
          </a:p>
        </p:txBody>
      </p:sp>
      <p:sp>
        <p:nvSpPr>
          <p:cNvPr id="6" name="Subtitle 5">
            <a:extLst>
              <a:ext uri="{FF2B5EF4-FFF2-40B4-BE49-F238E27FC236}">
                <a16:creationId xmlns:a16="http://schemas.microsoft.com/office/drawing/2014/main" id="{BEF46281-F261-E4FB-05CA-FA9D57FBA267}"/>
              </a:ext>
            </a:extLst>
          </p:cNvPr>
          <p:cNvSpPr>
            <a:spLocks noGrp="1"/>
          </p:cNvSpPr>
          <p:nvPr>
            <p:ph type="subTitle" idx="1"/>
          </p:nvPr>
        </p:nvSpPr>
        <p:spPr>
          <a:xfrm>
            <a:off x="5586414" y="1448656"/>
            <a:ext cx="5799250" cy="3817083"/>
          </a:xfrm>
          <a:solidFill>
            <a:schemeClr val="bg2"/>
          </a:solidFill>
        </p:spPr>
        <p:txBody>
          <a:bodyPr vert="horz" lIns="91440" tIns="45720" rIns="91440" bIns="45720" rtlCol="0" anchor="ctr">
            <a:noAutofit/>
          </a:bodyPr>
          <a:lstStyle/>
          <a:p>
            <a:pPr algn="l">
              <a:lnSpc>
                <a:spcPct val="120000"/>
              </a:lnSpc>
            </a:pPr>
            <a:r>
              <a:rPr lang="en-US" b="1" dirty="0">
                <a:solidFill>
                  <a:schemeClr val="tx1"/>
                </a:solidFill>
                <a:latin typeface="Times New Roman" panose="02020603050405020304" pitchFamily="18" charset="0"/>
                <a:cs typeface="Times New Roman" panose="02020603050405020304" pitchFamily="18" charset="0"/>
              </a:rPr>
              <a:t>OVERVIEW </a:t>
            </a:r>
          </a:p>
          <a:p>
            <a:pPr marL="342900"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Which encounter classes (ambulatory, outpatient, inpatient, etc.) are most common?</a:t>
            </a:r>
          </a:p>
          <a:p>
            <a:pPr marL="342900"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Which encounter class has the highest average claim cost?</a:t>
            </a:r>
          </a:p>
          <a:p>
            <a:pPr marL="342900"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How do encounter classes vary by gender (male vs female)?</a:t>
            </a:r>
          </a:p>
          <a:p>
            <a:pPr marL="342900"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Which payers (e.g., Medicare, Medicaid, uninsured) are covering the largest share of costs?</a:t>
            </a:r>
          </a:p>
        </p:txBody>
      </p:sp>
    </p:spTree>
    <p:extLst>
      <p:ext uri="{BB962C8B-B14F-4D97-AF65-F5344CB8AC3E}">
        <p14:creationId xmlns:p14="http://schemas.microsoft.com/office/powerpoint/2010/main" val="1838377231"/>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DA3D7AB-53CA-A1EA-1DDC-A38141CC9275}"/>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F1C1C6AC-01F9-7B9D-3432-243126BA3C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2F05238D-C405-832E-56F3-DD9F2FA746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910C3F3E-1400-C33F-5880-4A28C1223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8A8E91A3-9E27-7F70-BF07-71C2DC179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4EE4DE87-A89A-5078-3205-5F563FD2B1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0AF94237-FDEC-9619-28A0-03124655B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F1D1BBFD-C04A-DA57-5EB6-A2D229154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5135E9A9-52BF-423B-8FC2-2E5EB63725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4E8A6188-EB98-65FF-5A59-A7FB39C01B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648FFD05-497D-4CBB-3A5B-6838D3112A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ACD20E4C-0433-8BCA-46B9-BDB7EFA161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FAD09894-F5A5-3A01-BFCB-60695DCF1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5686E977-2A4C-3902-4B42-65431C9CD3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474C9A94-B270-7E01-2F88-7BE8AA068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3876F8E7-CEA8-5B66-F4DA-87EB8A8BA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E79E6E35-19F8-284C-A144-6DE86B4F8D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EED1FD26-17D2-E858-8E46-AC9C8F7C4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6B39F716-89F9-2FA1-6B1B-178247F42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6A5189A4-CFEE-2747-60EA-52D273E043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6A468B07-A56F-9A64-CDBD-88B17FB731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3A08F333-9050-7199-18DF-4F8B72506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92AB9B8B-6DA3-CAF3-7950-FBE824D73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715665A6-2EFB-EB03-5A95-56991D72C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1AB3E648-F07F-2055-2379-0BCE6D026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584DAD09-EC03-1259-F1EE-5A19B5D1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6AAADA23-F9D7-B0A6-8523-23AA014D4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563947C0-0FE7-0590-5EE4-D8DA48FD68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2248285F-10DD-479F-31F1-128D75E6FF8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5AC097B5-77B6-E50F-FA11-48C30D384A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7FD4D3E9-93F3-2DDB-6BA4-817CCBDC56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484282E7-2801-49AB-28B2-26A0B7324C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7D1C28B8-C96B-F773-F7E3-0EC0BD021A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C797A557-B01B-89AE-9061-98800486A3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397DD75E-2897-9327-2488-5D88B8139B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36ED1494-9772-06BF-FE20-7F00AAF741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C628CD92-FC10-33F3-22AD-3F1F91D5A5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EB2D16F5-79D9-BBA1-9574-96C514D3CC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003F37F8-68E8-DAF0-D7FB-87727C45FD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7F3265C5-740C-A0A9-3036-3FDC4F1AE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80416E08-2289-484C-DEAE-FCF205E228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54646A32-0FF3-7684-435C-FD219433E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C34F1918-3E1F-2860-123E-D4D3CE97C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C54F2341-51F3-FE1D-8B04-6CFB53331C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8D820B4B-FF1F-2CA1-EFF5-F650EC61DD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4338C0FF-A048-1BCB-50BC-48E0E9A441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3C1053F4-BC27-9D21-4B7F-7C8353F757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0F74A009-84A0-0FFF-23BE-6F6D5F3E84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6AE921B8-8418-4178-0F17-347E7C6D57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BA6C89C2-BB44-360A-4CF4-F450E0D15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F9D8973E-D18A-43A5-6742-257FCCB62D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64474F80-83F7-5150-B569-02CD67E8E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180B62FF-3FB8-420E-29CA-1DEA1CDBD2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2630B025-3229-E4CC-9B99-861E79CD1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C272F9B2-ACD4-8964-5339-192ECC8096FF}"/>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BUSINESS QUESTIONS</a:t>
            </a:r>
          </a:p>
        </p:txBody>
      </p:sp>
      <p:sp>
        <p:nvSpPr>
          <p:cNvPr id="6" name="Subtitle 5">
            <a:extLst>
              <a:ext uri="{FF2B5EF4-FFF2-40B4-BE49-F238E27FC236}">
                <a16:creationId xmlns:a16="http://schemas.microsoft.com/office/drawing/2014/main" id="{36222C95-E897-9315-F3FE-FCBB6BFA452C}"/>
              </a:ext>
            </a:extLst>
          </p:cNvPr>
          <p:cNvSpPr>
            <a:spLocks noGrp="1"/>
          </p:cNvSpPr>
          <p:nvPr>
            <p:ph type="subTitle" idx="1"/>
          </p:nvPr>
        </p:nvSpPr>
        <p:spPr>
          <a:xfrm>
            <a:off x="5455578" y="1699588"/>
            <a:ext cx="6045860" cy="3015287"/>
          </a:xfrm>
          <a:solidFill>
            <a:schemeClr val="bg2"/>
          </a:solidFill>
        </p:spPr>
        <p:txBody>
          <a:bodyPr vert="horz" lIns="91440" tIns="45720" rIns="91440" bIns="45720" rtlCol="0" anchor="ctr">
            <a:noAutofit/>
          </a:bodyPr>
          <a:lstStyle/>
          <a:p>
            <a:pPr algn="l">
              <a:lnSpc>
                <a:spcPct val="120000"/>
              </a:lnSpc>
            </a:pPr>
            <a:r>
              <a:rPr lang="en-US" b="1" dirty="0">
                <a:solidFill>
                  <a:schemeClr val="tx1"/>
                </a:solidFill>
                <a:latin typeface="Times New Roman" panose="02020603050405020304" pitchFamily="18" charset="0"/>
                <a:cs typeface="Times New Roman" panose="02020603050405020304" pitchFamily="18" charset="0"/>
              </a:rPr>
              <a:t>PATIENT INSIGHTS</a:t>
            </a:r>
          </a:p>
          <a:p>
            <a:pPr marL="342900"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What is the age distribution of patients?</a:t>
            </a:r>
          </a:p>
          <a:p>
            <a:pPr marL="342900"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What is the gender breakdown of patients?</a:t>
            </a:r>
          </a:p>
          <a:p>
            <a:pPr marL="342900"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What is the ethnicity distribution (Hispanic vs non-Hispanic)?</a:t>
            </a:r>
          </a:p>
          <a:p>
            <a:pPr marL="342900"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Which cities contribute the most patients?</a:t>
            </a:r>
          </a:p>
        </p:txBody>
      </p:sp>
    </p:spTree>
    <p:extLst>
      <p:ext uri="{BB962C8B-B14F-4D97-AF65-F5344CB8AC3E}">
        <p14:creationId xmlns:p14="http://schemas.microsoft.com/office/powerpoint/2010/main" val="2403417787"/>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7F2469-AB47-8ED2-3682-02A01D511E2B}"/>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9519AC93-03EE-8D21-94C4-7A91AEE3C3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E2B1AF78-271A-3BDB-EBB3-52B3832D6A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F53B86E9-A10C-82EA-8378-FD429A8BEC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65F10C37-673C-853C-89FC-1BC5C7935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34BFEBCD-4C0F-5DC3-DE34-314ED9C967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9BC8C292-B037-31F4-312A-1276E202D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BF9A42DD-3F95-D144-D747-4C2952FB0A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8AE8F320-6CAD-719E-FD85-2C0177F2F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090F27AB-2089-7C3D-E8F1-F1E2D55898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34E07086-87E5-15D7-59BA-2934B0C81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CE1D27E0-FC3A-30C1-ABC4-911F7FBF9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828E430F-3D2B-2547-F9AB-DE7B5A101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F4C5B74C-4033-7BD6-848A-B48CA7C081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AB25DB45-3A03-A9F5-D343-A100B97EA7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FB777D03-71D4-D8DF-9050-ACD55A75CB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C85E22B6-C7A0-CC03-B546-C007F09F3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5CFBD7A2-1F0B-6183-96BF-5BF0FCEE2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B336A6B3-CB07-B80B-D6F5-53DDA0608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EAC7463D-3EA2-AC0E-AA2F-15CD4C6F8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02565D53-E994-70C7-D055-D62681B74B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27F0C84D-B911-B07D-66A6-27F3CE679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F4E9ECB7-24FA-542C-FDAB-6F51B7C40A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AF96FFB9-735A-08E4-5849-6C8C7CD011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400FACE7-4540-C746-5057-67AB95ABC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10364040-F795-6C56-4EA1-B8DABD473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E0855F53-0388-0D76-1042-35AACB4199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1C1579F6-1DC1-5850-563A-3482A3AD2D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03F579C4-E18F-7332-CFF2-9E6C5AD003F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F9E0C099-8117-07D1-4CC3-B07F7B114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87A05A09-C479-6D25-4990-7D2900618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26B6A9B6-B8D1-349F-7D7F-F14AFB5E72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B805C095-61DC-4502-789F-E02C2918A3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7A54F24D-B077-CFC2-717A-5B35ED209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B519E2BB-6405-7F3B-6054-19FCABBD19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CCB40682-BDF3-28DA-393E-75A3FDC7A2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DC90F36F-8C94-48E3-4008-4453F774A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92ED9D88-E666-A074-0F51-D9F40B6CA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1817EEE2-A31A-09EA-5E8A-5622F31666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CF0B53C7-65B5-3DAA-E31D-231522006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CFABCCD7-DC4B-5AC8-FBDD-DB1B494F1B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58239E74-C1CC-0DC6-647E-02AB5F6B3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19F4CB2F-377F-4F03-A57F-D059BA36A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9E1F9193-1D4B-A43C-4C74-FE4AFBED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BC4F42EE-F785-C15B-6D10-EB3BF67F3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48A14596-C27F-E1BC-09A8-FB04BFFC06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A0C595E0-9840-9FEF-3CB8-053BF6816E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535A200C-4BD4-E7E3-28F4-2F1D4BC45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A336CF53-B538-0290-EEE2-4A2D239D6B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D4A81A28-BD0C-D8A8-EB00-AA36CC885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C7E55398-A54A-6FC2-4B39-B4372B00B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A2976A40-DF1F-EED7-D64B-B432C6AC76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D99A0FDA-8A99-E32D-B4DC-B2DB1D002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89380E80-D93B-9D82-0CE5-3674C9C13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5F4A7DCA-4405-FD5C-0076-21C0553116DA}"/>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BUSINESS QUESTIONS</a:t>
            </a:r>
          </a:p>
        </p:txBody>
      </p:sp>
      <p:sp>
        <p:nvSpPr>
          <p:cNvPr id="6" name="Subtitle 5">
            <a:extLst>
              <a:ext uri="{FF2B5EF4-FFF2-40B4-BE49-F238E27FC236}">
                <a16:creationId xmlns:a16="http://schemas.microsoft.com/office/drawing/2014/main" id="{B847EBC9-2B18-C33B-6D8A-D2C5AEB8751D}"/>
              </a:ext>
            </a:extLst>
          </p:cNvPr>
          <p:cNvSpPr>
            <a:spLocks noGrp="1"/>
          </p:cNvSpPr>
          <p:nvPr>
            <p:ph type="subTitle" idx="1"/>
          </p:nvPr>
        </p:nvSpPr>
        <p:spPr>
          <a:xfrm>
            <a:off x="5293947" y="1582220"/>
            <a:ext cx="6299565" cy="3587790"/>
          </a:xfrm>
          <a:solidFill>
            <a:schemeClr val="bg2"/>
          </a:solidFill>
        </p:spPr>
        <p:txBody>
          <a:bodyPr vert="horz" lIns="91440" tIns="45720" rIns="91440" bIns="45720" rtlCol="0" anchor="ctr">
            <a:noAutofit/>
          </a:bodyPr>
          <a:lstStyle/>
          <a:p>
            <a:pPr algn="l">
              <a:lnSpc>
                <a:spcPct val="120000"/>
              </a:lnSpc>
            </a:pPr>
            <a:r>
              <a:rPr lang="en-US" b="1" dirty="0">
                <a:solidFill>
                  <a:schemeClr val="tx1"/>
                </a:solidFill>
                <a:latin typeface="Times New Roman" panose="02020603050405020304" pitchFamily="18" charset="0"/>
                <a:cs typeface="Times New Roman" panose="02020603050405020304" pitchFamily="18" charset="0"/>
              </a:rPr>
              <a:t>CLINICAL ACTIVITY AND COSTS</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What are the most common procedures/encounter types performed?</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Which procedures are the most expensive on average?</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How are procedures distributed across male and female patients?</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What are the top specific procedures (e.g., screenings, vaccinations, X-rays)?</a:t>
            </a:r>
          </a:p>
        </p:txBody>
      </p:sp>
    </p:spTree>
    <p:extLst>
      <p:ext uri="{BB962C8B-B14F-4D97-AF65-F5344CB8AC3E}">
        <p14:creationId xmlns:p14="http://schemas.microsoft.com/office/powerpoint/2010/main" val="1406910129"/>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CEB4AB3-FFAB-4CF9-9363-89599D4D640E}"/>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5A5BAA3C-8086-95A8-2B58-20A4CA83F18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6DA9EDDD-64EF-57C1-3FE4-E40EC2CBA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7325ED1B-8F64-6664-AD46-E390F18AAF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46438111-1D92-5D0F-BD17-84AA06533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31C712BE-2D74-F4D1-63BE-4B8DEB8A0A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AF12B3DB-524A-A7EA-A178-B5F731C188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E092BBA5-C693-C146-3D59-27F20B6C6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A9A4ADB7-285E-12E6-A90E-7187A2B977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E3C399DE-B62D-B626-D525-F4D22CA6A8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40758650-7A76-DCF1-1041-1EB971E3E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C4504C47-E587-EC3A-0839-E91BF65C6A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5C4EA9CD-18C1-7BD9-9074-5E2DB740ED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0E86F92C-6980-9CB6-CEE5-DB5DF055B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88D5369E-6795-6E44-3492-609AACC80D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A544C90E-E23E-CABA-14A8-12606601C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5BD1DECE-F5A2-9D09-03CA-B3B844482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FB6FF379-FE65-FD75-353B-676F1DDA17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DC61DDE0-85C0-D9BF-3E7A-1CF1509B4A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40AEBED0-53AC-66AC-BF2A-39D2C055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47DBA3D2-D83D-661F-C77C-63985E0947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71A38614-A3BE-B9D0-E925-5700FA1B05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363266FD-7018-EE8C-9E6A-25D8C443AE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1CB97777-E758-B7D0-CCDA-736BBD6954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6D8646D0-99F5-7235-89AC-B474C8A8BD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13CBA025-2A35-0712-E979-A8E9070287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FE966223-F2B4-409B-8F49-2306332646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3E62D7E2-8486-2012-C43C-5B6C258432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26468807-7F56-98DB-9533-EE1F68BDD61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F7248FE6-9E9B-16E3-F655-AF75AB3E25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3559789D-D914-9165-C492-9E0C161D2A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6BD566A7-BF80-3D39-C2B2-5B4477F50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D2743296-6C40-A25F-E80B-0827E0C1F2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7612FD8D-D7AD-6DB4-A9C8-A7BA106CA5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341523C4-B538-A368-6104-2B6738713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0E55CDBD-76FE-E156-8EA7-DE19DB2DE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427AF40E-E217-B54F-70D3-0C6EB572A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2FF48F95-131E-2884-EC57-70B7F6351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213EC00D-3C99-E383-0D43-300DBC20D1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CA90F984-A4D0-3D35-8EF0-F21EC32BB3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04340C78-87CA-5CB7-8A21-417925647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87CBEA1B-50BE-226D-037C-67E28FA14C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D5450EAF-F84D-1E76-3480-BC53077F92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685E46A8-572D-557F-C78C-649964138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64B9E5E2-9A16-8F5F-A724-D1A28251C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6238EDD8-D8D1-1E0F-3C3E-9683C55296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FA0488DB-B3DB-41B5-C01E-A463C119D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05419E7C-5597-513E-6469-E653946A50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4D9D1D03-8D77-FEA7-DB99-12EE8DE6F1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B3465EF2-FFF0-763E-DFDB-FF015A141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0A8938DA-A7E6-92C8-0C83-3B1AFE8C1D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8D8E0638-D33C-03BD-4076-BEF678EAE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84B4ECB9-CB1D-9284-FA5D-D6D694D0A1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A799C39A-16E6-09DF-7A16-A587CABDFF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C58815ED-7769-B1A4-7C49-31E510537E16}"/>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DATA DESCRIPTION</a:t>
            </a:r>
          </a:p>
        </p:txBody>
      </p:sp>
      <p:sp>
        <p:nvSpPr>
          <p:cNvPr id="6" name="Subtitle 5">
            <a:extLst>
              <a:ext uri="{FF2B5EF4-FFF2-40B4-BE49-F238E27FC236}">
                <a16:creationId xmlns:a16="http://schemas.microsoft.com/office/drawing/2014/main" id="{F138B0B8-C203-9D74-BDBE-4CFFA9B45C1A}"/>
              </a:ext>
            </a:extLst>
          </p:cNvPr>
          <p:cNvSpPr>
            <a:spLocks noGrp="1"/>
          </p:cNvSpPr>
          <p:nvPr>
            <p:ph type="subTitle" idx="1"/>
          </p:nvPr>
        </p:nvSpPr>
        <p:spPr>
          <a:xfrm>
            <a:off x="5040313" y="442913"/>
            <a:ext cx="6494462" cy="6101725"/>
          </a:xfrm>
          <a:solidFill>
            <a:schemeClr val="bg2"/>
          </a:solidFill>
        </p:spPr>
        <p:txBody>
          <a:bodyPr vert="horz" lIns="91440" tIns="45720" rIns="91440" bIns="45720" rtlCol="0" anchor="ctr">
            <a:noAutofit/>
          </a:bodyPr>
          <a:lstStyle/>
          <a:p>
            <a:pPr algn="l">
              <a:lnSpc>
                <a:spcPct val="110000"/>
              </a:lnSpc>
            </a:pPr>
            <a:r>
              <a:rPr lang="en-US" b="1" dirty="0">
                <a:solidFill>
                  <a:schemeClr val="tx1"/>
                </a:solidFill>
                <a:latin typeface="Times New Roman" panose="02020603050405020304" pitchFamily="18" charset="0"/>
                <a:cs typeface="Times New Roman" panose="02020603050405020304" pitchFamily="18" charset="0"/>
              </a:rPr>
              <a:t>Encounter Table</a:t>
            </a:r>
          </a:p>
          <a:p>
            <a:pPr indent="-228600" algn="l">
              <a:lnSpc>
                <a:spcPct val="11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id → unique encounter identifier</a:t>
            </a:r>
          </a:p>
          <a:p>
            <a:pPr indent="-228600" algn="l">
              <a:lnSpc>
                <a:spcPct val="11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start, stop → start and stop timestamps of the encounter</a:t>
            </a:r>
          </a:p>
          <a:p>
            <a:pPr indent="-228600" algn="l">
              <a:lnSpc>
                <a:spcPct val="11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patient → patient id (links to patient’s dataset)</a:t>
            </a:r>
          </a:p>
          <a:p>
            <a:pPr indent="-228600" algn="l">
              <a:lnSpc>
                <a:spcPct val="11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organization → organization id (links to organizations dataset)</a:t>
            </a:r>
          </a:p>
          <a:p>
            <a:pPr indent="-228600" algn="l">
              <a:lnSpc>
                <a:spcPct val="11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payer → payer id (links to payer’s dataset)</a:t>
            </a:r>
          </a:p>
          <a:p>
            <a:pPr indent="-228600" algn="l">
              <a:lnSpc>
                <a:spcPct val="110000"/>
              </a:lnSpc>
              <a:buFont typeface="Wingdings" panose="05000000000000000000" pitchFamily="2" charset="2"/>
              <a:buChar char="§"/>
            </a:pPr>
            <a:r>
              <a:rPr lang="en-US" dirty="0" err="1">
                <a:solidFill>
                  <a:schemeClr val="tx1"/>
                </a:solidFill>
                <a:latin typeface="Times New Roman" panose="02020603050405020304" pitchFamily="18" charset="0"/>
                <a:cs typeface="Times New Roman" panose="02020603050405020304" pitchFamily="18" charset="0"/>
              </a:rPr>
              <a:t>encounterclass</a:t>
            </a:r>
            <a:r>
              <a:rPr lang="en-US" dirty="0">
                <a:solidFill>
                  <a:schemeClr val="tx1"/>
                </a:solidFill>
                <a:latin typeface="Times New Roman" panose="02020603050405020304" pitchFamily="18" charset="0"/>
                <a:cs typeface="Times New Roman" panose="02020603050405020304" pitchFamily="18" charset="0"/>
              </a:rPr>
              <a:t> → type of visit (inpatient, outpatient, emergency, etc.)</a:t>
            </a:r>
          </a:p>
          <a:p>
            <a:pPr indent="-228600" algn="l">
              <a:lnSpc>
                <a:spcPct val="11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code, description → medical coding and description of encounter</a:t>
            </a:r>
          </a:p>
          <a:p>
            <a:pPr indent="-228600" algn="l">
              <a:lnSpc>
                <a:spcPct val="110000"/>
              </a:lnSpc>
              <a:buFont typeface="Wingdings" panose="05000000000000000000" pitchFamily="2" charset="2"/>
              <a:buChar char="§"/>
            </a:pPr>
            <a:r>
              <a:rPr lang="en-US" dirty="0" err="1">
                <a:solidFill>
                  <a:schemeClr val="tx1"/>
                </a:solidFill>
                <a:latin typeface="Times New Roman" panose="02020603050405020304" pitchFamily="18" charset="0"/>
                <a:cs typeface="Times New Roman" panose="02020603050405020304" pitchFamily="18" charset="0"/>
              </a:rPr>
              <a:t>base_encounter_cost</a:t>
            </a:r>
            <a:r>
              <a:rPr lang="en-US" dirty="0">
                <a:solidFill>
                  <a:schemeClr val="tx1"/>
                </a:solidFill>
                <a:latin typeface="Times New Roman" panose="02020603050405020304" pitchFamily="18" charset="0"/>
                <a:cs typeface="Times New Roman" panose="02020603050405020304" pitchFamily="18" charset="0"/>
              </a:rPr>
              <a:t> → base cost of the encounter</a:t>
            </a:r>
          </a:p>
          <a:p>
            <a:pPr indent="-228600" algn="l">
              <a:lnSpc>
                <a:spcPct val="110000"/>
              </a:lnSpc>
              <a:buFont typeface="Wingdings" panose="05000000000000000000" pitchFamily="2" charset="2"/>
              <a:buChar char="§"/>
            </a:pPr>
            <a:r>
              <a:rPr lang="en-US" dirty="0" err="1">
                <a:solidFill>
                  <a:schemeClr val="tx1"/>
                </a:solidFill>
                <a:latin typeface="Times New Roman" panose="02020603050405020304" pitchFamily="18" charset="0"/>
                <a:cs typeface="Times New Roman" panose="02020603050405020304" pitchFamily="18" charset="0"/>
              </a:rPr>
              <a:t>total_claim_cost</a:t>
            </a:r>
            <a:r>
              <a:rPr lang="en-US" dirty="0">
                <a:solidFill>
                  <a:schemeClr val="tx1"/>
                </a:solidFill>
                <a:latin typeface="Times New Roman" panose="02020603050405020304" pitchFamily="18" charset="0"/>
                <a:cs typeface="Times New Roman" panose="02020603050405020304" pitchFamily="18" charset="0"/>
              </a:rPr>
              <a:t> → total amount claimed for reimbursement</a:t>
            </a:r>
          </a:p>
          <a:p>
            <a:pPr indent="-228600" algn="l">
              <a:lnSpc>
                <a:spcPct val="110000"/>
              </a:lnSpc>
              <a:buFont typeface="Wingdings" panose="05000000000000000000" pitchFamily="2" charset="2"/>
              <a:buChar char="§"/>
            </a:pPr>
            <a:r>
              <a:rPr lang="en-US" dirty="0" err="1">
                <a:solidFill>
                  <a:schemeClr val="tx1"/>
                </a:solidFill>
                <a:latin typeface="Times New Roman" panose="02020603050405020304" pitchFamily="18" charset="0"/>
                <a:cs typeface="Times New Roman" panose="02020603050405020304" pitchFamily="18" charset="0"/>
              </a:rPr>
              <a:t>payer_coverage</a:t>
            </a:r>
            <a:r>
              <a:rPr lang="en-US" dirty="0">
                <a:solidFill>
                  <a:schemeClr val="tx1"/>
                </a:solidFill>
                <a:latin typeface="Times New Roman" panose="02020603050405020304" pitchFamily="18" charset="0"/>
                <a:cs typeface="Times New Roman" panose="02020603050405020304" pitchFamily="18" charset="0"/>
              </a:rPr>
              <a:t> → portion of claim covered by payer</a:t>
            </a:r>
          </a:p>
          <a:p>
            <a:pPr indent="-228600" algn="l">
              <a:lnSpc>
                <a:spcPct val="110000"/>
              </a:lnSpc>
              <a:buFont typeface="Wingdings" panose="05000000000000000000" pitchFamily="2" charset="2"/>
              <a:buChar char="§"/>
            </a:pPr>
            <a:r>
              <a:rPr lang="en-US" dirty="0" err="1">
                <a:solidFill>
                  <a:schemeClr val="tx1"/>
                </a:solidFill>
                <a:latin typeface="Times New Roman" panose="02020603050405020304" pitchFamily="18" charset="0"/>
                <a:cs typeface="Times New Roman" panose="02020603050405020304" pitchFamily="18" charset="0"/>
              </a:rPr>
              <a:t>reasoncode</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reasondescription</a:t>
            </a:r>
            <a:r>
              <a:rPr lang="en-US" dirty="0">
                <a:solidFill>
                  <a:schemeClr val="tx1"/>
                </a:solidFill>
                <a:latin typeface="Times New Roman" panose="02020603050405020304" pitchFamily="18" charset="0"/>
                <a:cs typeface="Times New Roman" panose="02020603050405020304" pitchFamily="18" charset="0"/>
              </a:rPr>
              <a:t> → code and description for reason of visit</a:t>
            </a:r>
          </a:p>
        </p:txBody>
      </p:sp>
    </p:spTree>
    <p:extLst>
      <p:ext uri="{BB962C8B-B14F-4D97-AF65-F5344CB8AC3E}">
        <p14:creationId xmlns:p14="http://schemas.microsoft.com/office/powerpoint/2010/main" val="598436050"/>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AD432DB-864F-07D3-3AE4-E81ADCCC2194}"/>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A05770E7-D4CD-3718-D058-80787808A5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C0F80A0C-7892-CF7F-23B5-3C644080A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D63C5563-C5CF-A23F-0D40-DF349F8F9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18A40F78-7642-60BB-208C-AECA64032F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679705DA-0D9A-8E77-BC65-353AF646DB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6F54AF09-8E56-6921-5C50-7E050CCD0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DC704005-AE1D-A699-6704-F001DBE396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3DA65BE8-7563-5C1E-43F2-14631E9C2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6304C652-8F88-EED2-0422-1DB335D0B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2F472BBA-DAF6-0221-E064-6881401336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AB4D3EE2-E8B8-EE75-8E77-9BC38BBE55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EAE71B38-139D-A0E8-8184-9E31B100DA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A67BDA54-FDFE-FD23-D445-920B7C13F9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8B8ED306-4E20-F7CA-2937-BAEC235A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3AA19020-1789-8883-A6B0-F46EED641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32D1A2CB-AF53-A54A-94DA-693203B121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49923D2C-3FEC-461C-CC74-3F3D4C934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2CBF0F55-4F05-29D2-614A-2E2F83DFE8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D295900F-06B6-A4EF-8C0E-5EAC6AE65C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9A7A7E1F-65AA-01D5-CB60-997686969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385C6CBB-24E7-0A4C-8221-29EAF80D5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6F83F0DC-26A3-316B-6169-4245B9326B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B2D8237E-ECFD-BF69-BD6B-E69D96992E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BB601FE2-9E26-A643-E9B1-F615A0DFC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9295AC37-296C-C230-77FB-8F11DFB758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5A4CF5B0-DCF4-B42E-8B5A-18B6FB9EAB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D263144B-8052-8D6C-221E-FF1450E22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BCA55897-3DF4-1BDE-68C8-4FD1527ACE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2FFF519F-0A08-8AEC-6B92-7BA9D05839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7904B3DA-44FB-975A-C883-141F90E8B6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2BBE5A7B-1243-A81A-ABDD-DF55A2255A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C3CFEF3E-040D-3B70-16AF-DC8EFB4D1F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B7689F35-E4F6-F54F-002B-A0F0AF4340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B6BF3A82-DA3F-17A1-67D8-47A7C331F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BD154EB6-EEFC-C9A3-EFAA-C3B129CCE6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8E5584A5-7FDB-9B0E-6060-DAC65151BB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2215EF2A-EDB7-55FA-682D-0733280747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A959197C-1BCF-B153-C09A-BF5CC916D5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BA198FA1-FADF-9701-30FE-9D5B38EDB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5A710D1F-DB7D-5146-6B30-2EA7A10FB7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E4473461-0C73-6FBE-EF76-EC0BE64D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C82C7C99-7B77-105D-3B88-3270CB302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7962123C-71C2-8BE7-E721-B2FDAF431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5A8668A6-B9ED-DA7A-721C-6B6DBCD86B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04477658-84ED-E9FB-61C6-9A63233C02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78B045A0-0FE9-E189-A448-00566B128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6C5DE013-7A26-DA27-CD8F-B8E68150B3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9B2BAFDD-02F5-6E8A-C88A-FD8FA11F55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98DBA497-97C6-C4F5-C7EA-29EC58421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D044541E-9F78-36A9-8251-C0F9AF5B31E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FB14AB57-17F2-848D-EE57-8F345448C5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3E67B1A6-4CF0-B3CF-E8ED-DD0BD359BF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3CB1A8E3-BC7A-8F67-6F82-1F65D378B2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8146DE42-B0E4-0BB7-DF47-8F6B3EA0F8DC}"/>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DATA DESCRIPTION</a:t>
            </a:r>
          </a:p>
        </p:txBody>
      </p:sp>
      <p:sp>
        <p:nvSpPr>
          <p:cNvPr id="6" name="Subtitle 5">
            <a:extLst>
              <a:ext uri="{FF2B5EF4-FFF2-40B4-BE49-F238E27FC236}">
                <a16:creationId xmlns:a16="http://schemas.microsoft.com/office/drawing/2014/main" id="{C6CAF9A6-0EEB-A3BC-15C3-C48563F1EF33}"/>
              </a:ext>
            </a:extLst>
          </p:cNvPr>
          <p:cNvSpPr>
            <a:spLocks noGrp="1"/>
          </p:cNvSpPr>
          <p:nvPr>
            <p:ph type="subTitle" idx="1"/>
          </p:nvPr>
        </p:nvSpPr>
        <p:spPr>
          <a:xfrm>
            <a:off x="5040314" y="1428108"/>
            <a:ext cx="6043612" cy="3469499"/>
          </a:xfrm>
          <a:solidFill>
            <a:schemeClr val="bg2"/>
          </a:solidFill>
        </p:spPr>
        <p:txBody>
          <a:bodyPr vert="horz" lIns="91440" tIns="45720" rIns="91440" bIns="45720" rtlCol="0" anchor="ctr">
            <a:noAutofit/>
          </a:bodyPr>
          <a:lstStyle/>
          <a:p>
            <a:pPr marL="114300" algn="l">
              <a:lnSpc>
                <a:spcPct val="120000"/>
              </a:lnSpc>
            </a:pPr>
            <a:r>
              <a:rPr lang="en-US" b="1" dirty="0">
                <a:solidFill>
                  <a:schemeClr val="tx1"/>
                </a:solidFill>
                <a:latin typeface="Times New Roman" panose="02020603050405020304" pitchFamily="18" charset="0"/>
                <a:cs typeface="Times New Roman" panose="02020603050405020304" pitchFamily="18" charset="0"/>
              </a:rPr>
              <a:t>Organizations Table</a:t>
            </a:r>
          </a:p>
          <a:p>
            <a:pPr marL="342900"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id → organization identifier</a:t>
            </a:r>
          </a:p>
          <a:p>
            <a:pPr marL="342900"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name → organization name</a:t>
            </a:r>
          </a:p>
          <a:p>
            <a:pPr marL="342900"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address, city, state, zip → location information</a:t>
            </a:r>
          </a:p>
          <a:p>
            <a:pPr marL="342900" indent="-228600" algn="l">
              <a:lnSpc>
                <a:spcPct val="120000"/>
              </a:lnSpc>
              <a:buFont typeface="Wingdings" panose="05000000000000000000" pitchFamily="2" charset="2"/>
              <a:buChar char="§"/>
            </a:pPr>
            <a:r>
              <a:rPr lang="en-US" dirty="0" err="1">
                <a:solidFill>
                  <a:schemeClr val="tx1"/>
                </a:solidFill>
                <a:latin typeface="Times New Roman" panose="02020603050405020304" pitchFamily="18" charset="0"/>
                <a:cs typeface="Times New Roman" panose="02020603050405020304" pitchFamily="18" charset="0"/>
              </a:rPr>
              <a:t>lat</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lon</a:t>
            </a:r>
            <a:r>
              <a:rPr lang="en-US" dirty="0">
                <a:solidFill>
                  <a:schemeClr val="tx1"/>
                </a:solidFill>
                <a:latin typeface="Times New Roman" panose="02020603050405020304" pitchFamily="18" charset="0"/>
                <a:cs typeface="Times New Roman" panose="02020603050405020304" pitchFamily="18" charset="0"/>
              </a:rPr>
              <a:t> → geographic coordinates</a:t>
            </a:r>
          </a:p>
        </p:txBody>
      </p:sp>
    </p:spTree>
    <p:extLst>
      <p:ext uri="{BB962C8B-B14F-4D97-AF65-F5344CB8AC3E}">
        <p14:creationId xmlns:p14="http://schemas.microsoft.com/office/powerpoint/2010/main" val="3486846975"/>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6044674-01D9-7A78-F77B-A3FA3DCC7A3D}"/>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2A4CE0D4-2539-5BB3-5D81-1E74EAC9A1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C33DC127-90ED-025B-E846-F272428EA4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71459E7B-92CD-ADFE-1F58-85216A2B85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C6380647-E964-F3FD-A1FB-D15BEC5EB3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329CABDA-56A7-0C06-0358-C5CCB9E1CF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E5CD5954-23E2-0392-E362-CF99602DCD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C2F92D2B-66F3-E2AB-2FF8-B757F39CD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E4C024DB-1D41-AC93-AB5D-D7E1BA4630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4008DB09-C43F-74A1-52D3-47B903318B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04C7EB7E-A115-A0E2-231E-406D5C16EE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CD799308-649E-D22B-44B6-B51156749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BF07C5BC-4B3A-30CC-4A19-3BC8F67C30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ACB9861D-C73F-7B2D-CA6C-4B44AA522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A6A382D0-EA2C-AA2F-8161-EE186B24E3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E82641C6-6AF8-4A1F-66CB-2A476F686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01E2D89F-45DD-B275-1820-D447A12ED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0B7871AA-88EB-3E5A-8E92-2448CD9B2C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647BF17A-00FC-1777-7DF5-2584F5E562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13AC7624-2925-B9D4-FD5F-AB1E60BFA4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912F3DB6-AFC2-F218-85E4-40A5F1065E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A8AD76F3-5AA6-C127-08BD-34B82FD8A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3BDB1EAF-95D8-C70D-F592-ECC70B5129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AF4AD39A-AC52-51AE-423F-383DC2D0B4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F0035845-FFFC-3A96-C2C7-44F0CE3B7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1130765E-DDBC-9B10-6E67-1387220579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070D4218-DAEE-FE8D-B3F6-A5529D7DBF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0C0CEF14-CEDA-6F03-8C97-B200E4DF6C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8ECCB0D4-0FA7-3978-4593-62DCA1BA36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440567B1-F40A-1033-A049-03D9A952C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29874616-0F22-C282-73B9-D61DBD414C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90B547F4-6D31-DDF2-FA61-D97F4AF41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20F064B5-92C6-3F68-C888-A4B68622F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26F3A533-D662-D298-787F-7B942E3FA2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03189E28-A8C0-6242-0156-A93DA2190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FD5C0D1E-F22F-AC95-EF53-98A5C952DE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4387E928-7969-9B82-A152-324BC57252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FF97D657-1CF3-CDA8-64F5-2331CBBFA0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E4B180E3-4902-38EB-C187-39BA8B3A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09198614-DAD1-45CE-2F0A-9D3B024D8D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864D55AD-845E-138F-A3B6-5372BFF7D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AD338D60-6814-80BF-DBBC-610834261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1C4D5DB3-27FA-924F-4407-B333EB7DF1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00722FC2-CED0-173C-FC54-70E892809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D87222AD-078F-7D01-DE99-9E8CB44101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6C9B8A89-3BA8-B8F7-0210-93738F131C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DAD88424-2279-DF73-BC3F-EB1210D91B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78B717DB-A7B5-9320-F42E-F9BCE86317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72FD1C1A-0632-00A0-10EC-A4A1470C14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93BDD9E5-648F-F893-1491-851D19A962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A5B524D5-DA8A-91EA-50D8-EEC035F3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8E05B0A6-2531-58B0-7560-9D053720BA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6BA6FD7A-00BE-0B32-91E9-5CF1C8DEF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76CA6012-13E3-1011-A3D7-49F59EAEA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1BECD206-A14D-3946-F518-837409E559AB}"/>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DATA DESCRIPTION</a:t>
            </a:r>
          </a:p>
        </p:txBody>
      </p:sp>
      <p:sp>
        <p:nvSpPr>
          <p:cNvPr id="6" name="Subtitle 5">
            <a:extLst>
              <a:ext uri="{FF2B5EF4-FFF2-40B4-BE49-F238E27FC236}">
                <a16:creationId xmlns:a16="http://schemas.microsoft.com/office/drawing/2014/main" id="{0DF3A9D3-D64C-6B06-F78E-801363EBC5BE}"/>
              </a:ext>
            </a:extLst>
          </p:cNvPr>
          <p:cNvSpPr>
            <a:spLocks noGrp="1"/>
          </p:cNvSpPr>
          <p:nvPr>
            <p:ph type="subTitle" idx="1"/>
          </p:nvPr>
        </p:nvSpPr>
        <p:spPr>
          <a:xfrm>
            <a:off x="5214938" y="1448656"/>
            <a:ext cx="6170725" cy="3143892"/>
          </a:xfrm>
          <a:solidFill>
            <a:schemeClr val="bg2"/>
          </a:solidFill>
        </p:spPr>
        <p:txBody>
          <a:bodyPr vert="horz" lIns="91440" tIns="45720" rIns="91440" bIns="45720" rtlCol="0" anchor="ctr">
            <a:noAutofit/>
          </a:bodyPr>
          <a:lstStyle/>
          <a:p>
            <a:pPr marL="0" indent="0" algn="l" rtl="0" eaLnBrk="1" latinLnBrk="0" hangingPunct="1">
              <a:lnSpc>
                <a:spcPct val="120000"/>
              </a:lnSpc>
              <a:spcBef>
                <a:spcPts val="1000"/>
              </a:spcBef>
              <a:buNone/>
            </a:pPr>
            <a:r>
              <a:rPr lang="en-US" b="1" kern="1200" dirty="0">
                <a:solidFill>
                  <a:schemeClr val="tx1"/>
                </a:solidFill>
                <a:effectLst/>
                <a:latin typeface="Times New Roman" panose="02020603050405020304" pitchFamily="18" charset="0"/>
                <a:cs typeface="Times New Roman" panose="02020603050405020304" pitchFamily="18" charset="0"/>
              </a:rPr>
              <a:t>Payers Table</a:t>
            </a:r>
            <a:endParaRPr lang="en-US" dirty="0">
              <a:solidFill>
                <a:schemeClr val="tx1"/>
              </a:solidFill>
              <a:effectLst/>
              <a:latin typeface="Times New Roman" panose="02020603050405020304" pitchFamily="18" charset="0"/>
              <a:cs typeface="Times New Roman" panose="02020603050405020304" pitchFamily="18" charset="0"/>
            </a:endParaRPr>
          </a:p>
          <a:p>
            <a:pPr marL="347472" indent="-228600" algn="l" rtl="0" eaLnBrk="1" latinLnBrk="0" hangingPunct="1">
              <a:lnSpc>
                <a:spcPct val="120000"/>
              </a:lnSpc>
              <a:spcBef>
                <a:spcPts val="1000"/>
              </a:spcBef>
              <a:buNone/>
            </a:pPr>
            <a:r>
              <a:rPr lang="en-US" b="0" kern="1200" dirty="0">
                <a:solidFill>
                  <a:schemeClr val="tx1"/>
                </a:solidFill>
                <a:effectLst/>
                <a:latin typeface="Times New Roman" panose="02020603050405020304" pitchFamily="18" charset="0"/>
                <a:cs typeface="Times New Roman" panose="02020603050405020304" pitchFamily="18" charset="0"/>
              </a:rPr>
              <a:t>id → payer identifier</a:t>
            </a:r>
            <a:endParaRPr lang="en-US" dirty="0">
              <a:solidFill>
                <a:schemeClr val="tx1"/>
              </a:solidFill>
              <a:effectLst/>
              <a:latin typeface="Times New Roman" panose="02020603050405020304" pitchFamily="18" charset="0"/>
              <a:cs typeface="Times New Roman" panose="02020603050405020304" pitchFamily="18" charset="0"/>
            </a:endParaRPr>
          </a:p>
          <a:p>
            <a:pPr marL="347472" indent="-228600" algn="l" rtl="0" eaLnBrk="1" latinLnBrk="0" hangingPunct="1">
              <a:lnSpc>
                <a:spcPct val="120000"/>
              </a:lnSpc>
              <a:spcBef>
                <a:spcPts val="1000"/>
              </a:spcBef>
              <a:buNone/>
            </a:pPr>
            <a:r>
              <a:rPr lang="en-US" b="0" kern="1200" dirty="0">
                <a:solidFill>
                  <a:schemeClr val="tx1"/>
                </a:solidFill>
                <a:effectLst/>
                <a:latin typeface="Times New Roman" panose="02020603050405020304" pitchFamily="18" charset="0"/>
                <a:cs typeface="Times New Roman" panose="02020603050405020304" pitchFamily="18" charset="0"/>
              </a:rPr>
              <a:t>name → payer/insurance company name</a:t>
            </a:r>
            <a:endParaRPr lang="en-US" dirty="0">
              <a:solidFill>
                <a:schemeClr val="tx1"/>
              </a:solidFill>
              <a:effectLst/>
              <a:latin typeface="Times New Roman" panose="02020603050405020304" pitchFamily="18" charset="0"/>
              <a:cs typeface="Times New Roman" panose="02020603050405020304" pitchFamily="18" charset="0"/>
            </a:endParaRPr>
          </a:p>
          <a:p>
            <a:pPr marL="347472" indent="-228600" algn="l" rtl="0" eaLnBrk="1" latinLnBrk="0" hangingPunct="1">
              <a:lnSpc>
                <a:spcPct val="120000"/>
              </a:lnSpc>
              <a:spcBef>
                <a:spcPts val="1000"/>
              </a:spcBef>
              <a:buNone/>
            </a:pPr>
            <a:r>
              <a:rPr lang="en-US" b="0" kern="1200" dirty="0">
                <a:solidFill>
                  <a:schemeClr val="tx1"/>
                </a:solidFill>
                <a:effectLst/>
                <a:latin typeface="Times New Roman" panose="02020603050405020304" pitchFamily="18" charset="0"/>
                <a:cs typeface="Times New Roman" panose="02020603050405020304" pitchFamily="18" charset="0"/>
              </a:rPr>
              <a:t>address, city, </a:t>
            </a:r>
            <a:r>
              <a:rPr lang="en-US" b="0" kern="1200" dirty="0" err="1">
                <a:solidFill>
                  <a:schemeClr val="tx1"/>
                </a:solidFill>
                <a:effectLst/>
                <a:latin typeface="Times New Roman" panose="02020603050405020304" pitchFamily="18" charset="0"/>
                <a:cs typeface="Times New Roman" panose="02020603050405020304" pitchFamily="18" charset="0"/>
              </a:rPr>
              <a:t>state_headquarter</a:t>
            </a:r>
            <a:r>
              <a:rPr lang="en-US" b="0" kern="1200" dirty="0">
                <a:solidFill>
                  <a:schemeClr val="tx1"/>
                </a:solidFill>
                <a:effectLst/>
                <a:latin typeface="Times New Roman" panose="02020603050405020304" pitchFamily="18" charset="0"/>
                <a:cs typeface="Times New Roman" panose="02020603050405020304" pitchFamily="18" charset="0"/>
              </a:rPr>
              <a:t>, zip → company headquarters info</a:t>
            </a:r>
            <a:endParaRPr lang="en-US" dirty="0">
              <a:solidFill>
                <a:schemeClr val="tx1"/>
              </a:solidFill>
              <a:effectLst/>
              <a:latin typeface="Times New Roman" panose="02020603050405020304" pitchFamily="18" charset="0"/>
              <a:cs typeface="Times New Roman" panose="02020603050405020304" pitchFamily="18" charset="0"/>
            </a:endParaRPr>
          </a:p>
          <a:p>
            <a:pPr marL="347472" indent="-228600" algn="l" rtl="0" eaLnBrk="1" latinLnBrk="0" hangingPunct="1">
              <a:lnSpc>
                <a:spcPct val="120000"/>
              </a:lnSpc>
              <a:spcBef>
                <a:spcPts val="1000"/>
              </a:spcBef>
            </a:pPr>
            <a:r>
              <a:rPr lang="en-US" b="0" kern="1200" dirty="0">
                <a:solidFill>
                  <a:schemeClr val="tx1"/>
                </a:solidFill>
                <a:effectLst/>
                <a:latin typeface="Times New Roman" panose="02020603050405020304" pitchFamily="18" charset="0"/>
                <a:cs typeface="Times New Roman" panose="02020603050405020304" pitchFamily="18" charset="0"/>
              </a:rPr>
              <a:t>phone → contact number</a:t>
            </a:r>
            <a:endParaRPr lang="en-US" dirty="0">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7055891"/>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1140188-104B-9C06-C856-144AFFEB9D9A}"/>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81023250-0ADE-EA52-19C7-8C7FBD8F899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00C06455-CD9D-0CAC-FD46-D005E653DD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5B7AE1B1-DE65-8C9E-F39B-78C3B19D11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5A36E2D0-9DDC-1670-F109-220DFA9B9C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18A5D6EF-3A4E-EF31-281F-81239E9745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6E145EC8-1E30-D835-2100-98901A7BE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73E26670-87DA-E0C0-CE95-9E1F7341E1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F94E03FC-211E-DB41-4E30-B42E038950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B46A43DB-BC0F-8E48-0ACE-D0CEBC4C5E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7123E70B-6EFB-2D2A-1704-38BDBBFFB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3A9604D6-20E0-6DF5-AD3F-6345AB99E8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B7FBC364-B339-011E-00A9-C3B34221B4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3CA7490F-0EAE-231E-3A49-A9D8F6BFD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BE81B5AF-7439-5161-8F04-AE6A56D476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B15D87DE-7555-8A76-4BFA-A74BE59F3B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50780CD6-3BEC-4E7D-2E51-9B80B53BCC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B792E67B-34BC-FBC1-D55D-05175D90E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946930A2-B835-DFF8-ECFE-FD81BC3982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DF835050-4514-E91A-8612-4F3479EE7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52114D52-0547-EC41-FDAF-2564E01792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7C6D063B-C728-9456-808A-E007FB0978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6150FC12-199A-3682-6BCD-CDF178F8A8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8F29C1CF-9345-7312-28DE-E1C86EAA1E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2F6E944F-6A4A-6227-4A2E-321FC26B4A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02D5764D-307D-77CF-8581-58B2D2C09E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88F139E8-1781-B6A7-A8D9-F0336E31E8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D2A810FA-B3B2-B157-9D81-3C275A47C7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99E8EA81-3650-2733-3216-E0BCE45E86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EA4AEBB9-FAA5-BEE3-4EE4-F9DB0CF55F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C64CE2FA-09FD-971E-D2C5-1D6DE32CBD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802A23D4-499C-23CB-6811-7FF7CB4F89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B398A6AD-F59B-57C2-CB4B-FD2AFDC748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09DCF8FB-00D4-A87E-1783-69ADF9AE3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9F7BCD25-6B72-E5C0-0D44-19A38E050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7E3FDDB7-8F30-2D5F-CDC8-FD94B26F56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8B746F8E-4664-26EC-51F4-D1C5E8290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124F42C4-AE8E-9C4F-5A03-81E40509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6564BE39-88A9-496E-707A-65A01C65BF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CB1D3D1F-8F26-DCA3-4AAC-E62426827C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E10C9D7A-26CF-B5BB-0BAC-FDF8AA96A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EFD84AF4-2A1D-A18E-A84D-C9A94D4B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C6882358-0136-01AA-C2E1-F05C20A2C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DF79B9E3-521E-DE03-6F78-427B925077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4EF439FD-0655-DC8F-C201-A71B9149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90F21F89-904B-B3BF-1731-B893CE4B57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3C8B0F21-4493-CD7C-5774-657BA9BF40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9A6EBEB2-35AB-6B4F-7215-06B9115B48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20DB8DCC-0748-3F70-6A2D-2D810892A8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6DB3253E-5904-9895-69DA-CC04CDD540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80085BC2-F8B4-F5ED-3498-0FCEC22A86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9A591BC4-6AE3-0C3D-7A1D-072A497BC0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87D50B04-C84C-D2EF-F150-D3A8EB660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A743C364-C27A-F024-7394-265E1A7D5E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B3D25BFA-C868-FD03-442E-151574F1270A}"/>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DATA DESCRIPTION</a:t>
            </a:r>
          </a:p>
        </p:txBody>
      </p:sp>
      <p:sp>
        <p:nvSpPr>
          <p:cNvPr id="6" name="Subtitle 5">
            <a:extLst>
              <a:ext uri="{FF2B5EF4-FFF2-40B4-BE49-F238E27FC236}">
                <a16:creationId xmlns:a16="http://schemas.microsoft.com/office/drawing/2014/main" id="{BB775A6D-F2CB-7F40-A5A6-876DC1F42D28}"/>
              </a:ext>
            </a:extLst>
          </p:cNvPr>
          <p:cNvSpPr>
            <a:spLocks noGrp="1"/>
          </p:cNvSpPr>
          <p:nvPr>
            <p:ph type="subTitle" idx="1"/>
          </p:nvPr>
        </p:nvSpPr>
        <p:spPr>
          <a:xfrm>
            <a:off x="5293947" y="485774"/>
            <a:ext cx="6531342" cy="5894477"/>
          </a:xfrm>
          <a:solidFill>
            <a:schemeClr val="bg2"/>
          </a:solidFill>
        </p:spPr>
        <p:txBody>
          <a:bodyPr vert="horz" lIns="91440" tIns="45720" rIns="91440" bIns="45720" rtlCol="0" anchor="ctr">
            <a:noAutofit/>
          </a:bodyPr>
          <a:lstStyle/>
          <a:p>
            <a:pPr algn="l">
              <a:lnSpc>
                <a:spcPct val="120000"/>
              </a:lnSpc>
            </a:pPr>
            <a:r>
              <a:rPr lang="en-US" b="1" dirty="0">
                <a:solidFill>
                  <a:schemeClr val="tx1"/>
                </a:solidFill>
                <a:latin typeface="Times New Roman" panose="02020603050405020304" pitchFamily="18" charset="0"/>
                <a:cs typeface="Times New Roman" panose="02020603050405020304" pitchFamily="18" charset="0"/>
              </a:rPr>
              <a:t>Patients Table</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id → patient identifier</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birthdate, </a:t>
            </a:r>
            <a:r>
              <a:rPr lang="en-US" dirty="0" err="1">
                <a:solidFill>
                  <a:schemeClr val="tx1"/>
                </a:solidFill>
                <a:latin typeface="Times New Roman" panose="02020603050405020304" pitchFamily="18" charset="0"/>
                <a:cs typeface="Times New Roman" panose="02020603050405020304" pitchFamily="18" charset="0"/>
              </a:rPr>
              <a:t>deathdate</a:t>
            </a:r>
            <a:r>
              <a:rPr lang="en-US" dirty="0">
                <a:solidFill>
                  <a:schemeClr val="tx1"/>
                </a:solidFill>
                <a:latin typeface="Times New Roman" panose="02020603050405020304" pitchFamily="18" charset="0"/>
                <a:cs typeface="Times New Roman" panose="02020603050405020304" pitchFamily="18" charset="0"/>
              </a:rPr>
              <a:t> → date of birth and death (if applicable)</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prefix →name prefix, such as </a:t>
            </a:r>
            <a:r>
              <a:rPr lang="en-US" dirty="0" err="1">
                <a:solidFill>
                  <a:schemeClr val="tx1"/>
                </a:solidFill>
                <a:latin typeface="Times New Roman" panose="02020603050405020304" pitchFamily="18" charset="0"/>
                <a:cs typeface="Times New Roman" panose="02020603050405020304" pitchFamily="18" charset="0"/>
              </a:rPr>
              <a:t>mr.</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mrs.</a:t>
            </a:r>
            <a:r>
              <a:rPr lang="en-US" dirty="0">
                <a:solidFill>
                  <a:schemeClr val="tx1"/>
                </a:solidFill>
                <a:latin typeface="Times New Roman" panose="02020603050405020304" pitchFamily="18" charset="0"/>
                <a:cs typeface="Times New Roman" panose="02020603050405020304" pitchFamily="18" charset="0"/>
              </a:rPr>
              <a:t>, dr., etc.</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suffix → name suffix, such as </a:t>
            </a:r>
            <a:r>
              <a:rPr lang="en-US" dirty="0" err="1">
                <a:solidFill>
                  <a:schemeClr val="tx1"/>
                </a:solidFill>
                <a:latin typeface="Times New Roman" panose="02020603050405020304" pitchFamily="18" charset="0"/>
                <a:cs typeface="Times New Roman" panose="02020603050405020304" pitchFamily="18" charset="0"/>
              </a:rPr>
              <a:t>phd</a:t>
            </a:r>
            <a:r>
              <a:rPr lang="en-US" dirty="0">
                <a:solidFill>
                  <a:schemeClr val="tx1"/>
                </a:solidFill>
                <a:latin typeface="Times New Roman" panose="02020603050405020304" pitchFamily="18" charset="0"/>
                <a:cs typeface="Times New Roman" panose="02020603050405020304" pitchFamily="18" charset="0"/>
              </a:rPr>
              <a:t>, md, </a:t>
            </a:r>
            <a:r>
              <a:rPr lang="en-US" dirty="0" err="1">
                <a:solidFill>
                  <a:schemeClr val="tx1"/>
                </a:solidFill>
                <a:latin typeface="Times New Roman" panose="02020603050405020304" pitchFamily="18" charset="0"/>
                <a:cs typeface="Times New Roman" panose="02020603050405020304" pitchFamily="18" charset="0"/>
              </a:rPr>
              <a:t>jd</a:t>
            </a:r>
            <a:r>
              <a:rPr lang="en-US" dirty="0">
                <a:solidFill>
                  <a:schemeClr val="tx1"/>
                </a:solidFill>
                <a:latin typeface="Times New Roman" panose="02020603050405020304" pitchFamily="18" charset="0"/>
                <a:cs typeface="Times New Roman" panose="02020603050405020304" pitchFamily="18" charset="0"/>
              </a:rPr>
              <a:t>, etc.</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first, last, maiden → patient’s names</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marital → marital status</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race, ethnicity → race and ethnicity</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gender → gender</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birthplace → birth location</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address, city, state, county, zip → current address info</a:t>
            </a:r>
          </a:p>
          <a:p>
            <a:pPr indent="-228600" algn="l">
              <a:lnSpc>
                <a:spcPct val="120000"/>
              </a:lnSpc>
              <a:buFont typeface="Wingdings" panose="05000000000000000000" pitchFamily="2" charset="2"/>
              <a:buChar char="§"/>
            </a:pPr>
            <a:r>
              <a:rPr lang="en-US" dirty="0" err="1">
                <a:solidFill>
                  <a:schemeClr val="tx1"/>
                </a:solidFill>
                <a:latin typeface="Times New Roman" panose="02020603050405020304" pitchFamily="18" charset="0"/>
                <a:cs typeface="Times New Roman" panose="02020603050405020304" pitchFamily="18" charset="0"/>
              </a:rPr>
              <a:t>lat</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lon</a:t>
            </a:r>
            <a:r>
              <a:rPr lang="en-US" dirty="0">
                <a:solidFill>
                  <a:schemeClr val="tx1"/>
                </a:solidFill>
                <a:latin typeface="Times New Roman" panose="02020603050405020304" pitchFamily="18" charset="0"/>
                <a:cs typeface="Times New Roman" panose="02020603050405020304" pitchFamily="18" charset="0"/>
              </a:rPr>
              <a:t> → geographic coordinates</a:t>
            </a:r>
          </a:p>
        </p:txBody>
      </p:sp>
    </p:spTree>
    <p:extLst>
      <p:ext uri="{BB962C8B-B14F-4D97-AF65-F5344CB8AC3E}">
        <p14:creationId xmlns:p14="http://schemas.microsoft.com/office/powerpoint/2010/main" val="1012583344"/>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8F9547B-980D-BD17-4EDF-0639FE89BA0F}"/>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69FB4DAD-C60E-B5BC-F1A7-560D6A1894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D254CDA8-2C48-A1C7-E80D-08B96395AC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532F18F4-F8CA-2A3D-9957-0D646C9EF2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DB929217-8571-9464-AFB0-E40D7B30B8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E0DDC3CC-F3D4-6FE2-D30A-6CA64CD7B9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53F05AD1-4831-1656-CF6B-FE1D997CC0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62D312E6-5C82-C411-B8AB-A1203C3DE7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29EAA4C4-4DF6-6326-48B3-A1E02B125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BB725D3C-821B-F418-EDD1-5DCF93DED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D16BD0B4-4D45-9A4D-5C89-72CF39197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5A327E0F-AF97-8726-44EC-43C5F8CD7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D79A3D8F-D762-D695-A847-012BABB37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18B73317-F4F6-9675-5FD2-17E770401A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6D370D38-1EEF-D940-0947-A03E9BFAA7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7ED7A8B4-B809-B1FD-B898-1CBAB773A4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546CE087-86DF-A53F-7ED9-AF86FCF4A1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F2411A28-7466-5EDA-F8A1-312C0370FA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C3575FEE-1DE3-B183-5BD7-1E8B70E8BD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B9CB08DB-E100-6C04-291F-0D09A09FD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9F3B83CB-5D6A-BA6B-9F06-6B1EDA9C9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4AB3AD57-C168-3889-0E3F-C1BEC0128D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3A75D0A9-DBED-7546-18EF-78A57541DC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B60F15B0-3B21-A951-9B43-64D218E7FA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FB3A7F89-8D02-A68B-C819-B87AC3C5C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4FCE4EE6-08BE-C75E-93A7-A15A8C3777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2E075088-2E9E-50DB-347D-43D7EF91C0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31D4778E-1823-7548-5711-C6714496A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D2165319-12D1-6F18-5D31-6586BB48C8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C02BDDB8-4C2C-555C-1672-B930046AAF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03456184-4C5A-1B76-2CC9-D0A6222A9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C7DA28FF-87EE-5008-D21A-48905BD8A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3DD83F0D-1A68-4BEE-0A83-F0F4DCE4E9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11CA2F51-11FF-D657-8C25-2438DAF594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C281D01D-4B9E-5D71-0D4B-631D41FAE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88A77B66-5062-7FEE-CB3C-968ABF46A8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64133F7E-E154-3E3A-E029-7CEB6D57E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0DF04EF0-43AD-EA24-0D41-E4152B162D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8C63576C-8DB5-F47D-0A62-2DF20713D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C1B66802-C248-5475-D379-0FB3DE4A28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FFC52CB6-36D6-D7F7-46BD-89A960F69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6D3A7870-C38B-9F0A-BBA2-E9E1C2BAF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3348E445-5F10-8E0C-BA12-D4B191CE02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B340C215-84C7-1790-134E-31F25B85E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E554B383-F2AE-0CE4-E31E-69E3405FED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4D0B8699-C4E9-FF64-A306-3CEA92D17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B42F18EA-C0D2-F4B8-DB93-40888E6C86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A3EA9E9D-FEEA-38DC-76F9-CACE9443C7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71AFB4B6-8C62-06A6-055E-0DEFD9A46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9A73A320-B3D3-469D-DE41-09F4665B02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AF3D3996-6405-59B1-D794-B8837346E5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BAEFB697-0CEB-D0B2-8AC7-E2C1D54B8E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07DCE6E4-B973-856E-3FBC-FD46632297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E871B72E-7EE3-9E3F-7EA1-E9DDC8936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AA81E2D7-29BD-5786-E176-70FA6C84795F}"/>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DATA DESCRIPTION</a:t>
            </a:r>
          </a:p>
        </p:txBody>
      </p:sp>
      <p:sp>
        <p:nvSpPr>
          <p:cNvPr id="6" name="Subtitle 5">
            <a:extLst>
              <a:ext uri="{FF2B5EF4-FFF2-40B4-BE49-F238E27FC236}">
                <a16:creationId xmlns:a16="http://schemas.microsoft.com/office/drawing/2014/main" id="{0DF2EB9A-C93F-8FEE-139E-7AB4C1FA50F4}"/>
              </a:ext>
            </a:extLst>
          </p:cNvPr>
          <p:cNvSpPr>
            <a:spLocks noGrp="1"/>
          </p:cNvSpPr>
          <p:nvPr>
            <p:ph type="subTitle" idx="1"/>
          </p:nvPr>
        </p:nvSpPr>
        <p:spPr>
          <a:xfrm>
            <a:off x="5214938" y="1417834"/>
            <a:ext cx="6170726" cy="4267005"/>
          </a:xfrm>
          <a:solidFill>
            <a:schemeClr val="bg2"/>
          </a:solidFill>
        </p:spPr>
        <p:txBody>
          <a:bodyPr vert="horz" lIns="91440" tIns="45720" rIns="91440" bIns="45720" rtlCol="0" anchor="ctr">
            <a:noAutofit/>
          </a:bodyPr>
          <a:lstStyle/>
          <a:p>
            <a:pPr algn="l">
              <a:lnSpc>
                <a:spcPct val="120000"/>
              </a:lnSpc>
            </a:pPr>
            <a:r>
              <a:rPr lang="en-US" b="1" dirty="0">
                <a:solidFill>
                  <a:schemeClr val="tx1"/>
                </a:solidFill>
                <a:latin typeface="Times New Roman" panose="02020603050405020304" pitchFamily="18" charset="0"/>
                <a:cs typeface="Times New Roman" panose="02020603050405020304" pitchFamily="18" charset="0"/>
              </a:rPr>
              <a:t>Procedure Table</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start, stop → time of procedure</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patient → patient id (links to patient’s dataset)</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encounter → encounter id (links to encounters dataset)</a:t>
            </a:r>
          </a:p>
          <a:p>
            <a:pPr indent="-228600" algn="l">
              <a:lnSpc>
                <a:spcPct val="12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code, description → medical coding and description of the procedure</a:t>
            </a:r>
          </a:p>
          <a:p>
            <a:pPr indent="-228600" algn="l">
              <a:lnSpc>
                <a:spcPct val="120000"/>
              </a:lnSpc>
              <a:buFont typeface="Wingdings" panose="05000000000000000000" pitchFamily="2" charset="2"/>
              <a:buChar char="§"/>
            </a:pPr>
            <a:r>
              <a:rPr lang="en-US" dirty="0" err="1">
                <a:solidFill>
                  <a:schemeClr val="tx1"/>
                </a:solidFill>
                <a:latin typeface="Times New Roman" panose="02020603050405020304" pitchFamily="18" charset="0"/>
                <a:cs typeface="Times New Roman" panose="02020603050405020304" pitchFamily="18" charset="0"/>
              </a:rPr>
              <a:t>base_cost</a:t>
            </a:r>
            <a:r>
              <a:rPr lang="en-US" dirty="0">
                <a:solidFill>
                  <a:schemeClr val="tx1"/>
                </a:solidFill>
                <a:latin typeface="Times New Roman" panose="02020603050405020304" pitchFamily="18" charset="0"/>
                <a:cs typeface="Times New Roman" panose="02020603050405020304" pitchFamily="18" charset="0"/>
              </a:rPr>
              <a:t> → base cost of the procedure</a:t>
            </a:r>
          </a:p>
          <a:p>
            <a:pPr indent="-228600" algn="l">
              <a:lnSpc>
                <a:spcPct val="120000"/>
              </a:lnSpc>
              <a:buFont typeface="Wingdings" panose="05000000000000000000" pitchFamily="2" charset="2"/>
              <a:buChar char="§"/>
            </a:pPr>
            <a:r>
              <a:rPr lang="en-US" dirty="0" err="1">
                <a:solidFill>
                  <a:schemeClr val="tx1"/>
                </a:solidFill>
                <a:latin typeface="Times New Roman" panose="02020603050405020304" pitchFamily="18" charset="0"/>
                <a:cs typeface="Times New Roman" panose="02020603050405020304" pitchFamily="18" charset="0"/>
              </a:rPr>
              <a:t>reasoncode</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reasondescription</a:t>
            </a:r>
            <a:r>
              <a:rPr lang="en-US" dirty="0">
                <a:solidFill>
                  <a:schemeClr val="tx1"/>
                </a:solidFill>
                <a:latin typeface="Times New Roman" panose="02020603050405020304" pitchFamily="18" charset="0"/>
                <a:cs typeface="Times New Roman" panose="02020603050405020304" pitchFamily="18" charset="0"/>
              </a:rPr>
              <a:t> → reason for procedure</a:t>
            </a:r>
          </a:p>
        </p:txBody>
      </p:sp>
    </p:spTree>
    <p:extLst>
      <p:ext uri="{BB962C8B-B14F-4D97-AF65-F5344CB8AC3E}">
        <p14:creationId xmlns:p14="http://schemas.microsoft.com/office/powerpoint/2010/main" val="1392725452"/>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A748887-B401-2B6C-4DEB-8162734A11F6}"/>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C6F18341-4934-697F-0E02-4B0B0F0FC2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21464CA1-5459-CECE-BB0C-67D229C8E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F733FA12-0F30-45AA-D7AC-589DE2EEF0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C36FAD0A-F3C7-E1B6-AA09-88E95EC61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84E30F9A-C5E4-9929-0646-3573580E58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8FB8E2EF-8CD1-5088-5EBF-BBFF303D64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8A400206-82BB-E757-6BCA-988EFE0D44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041F4E0D-A85C-ED35-56CB-311A0F63ED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B2A98F3F-7117-F691-3028-4D39EA0908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0EAE5A6C-FA15-8411-2944-F43AAD9AB8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AA821796-04D6-AAA3-8585-D8AAF4D173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69821806-461C-B3B9-4C85-EE227EDBE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1C3580EC-3338-74F0-58B9-DD5CCB3AFE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B7DD9D5E-5FBD-5E0D-954F-EB2A40E793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449E7EB8-3AB3-CAD5-9D63-FC3FA1E70E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191AF292-C1C3-BCD7-7B98-93E7CF342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64648ACA-1532-779C-FCBC-3A7BC69CBF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CFE3E1A7-5D88-D4BE-EFC4-E2E24CDB0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F3FF432F-1E58-2D03-3E01-3D2711BA8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0FDBBCF5-E67D-4C43-449B-A5C5992BBD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9C1E5989-5A1A-768A-576B-FC9ED3CA2B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CFA29EDA-E112-1493-5670-985ED7BB3D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C7DF26F6-BE3A-1AAD-0810-703390483A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02814FCA-AA63-E734-BACA-458C1E1BE4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72E94137-6313-4319-88E9-644B98FCE5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F27C42A5-CDC5-D155-98BD-C8AA7CF7FC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CB805E50-5118-25A7-3E9C-F2E456618E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84577C14-5C81-A18E-F519-54373C8880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216D0B63-B9A9-5585-508A-C560C963F0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E32D2408-4DE8-D36F-80A5-3E2C477562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537BD548-F1B8-EEEF-F4D5-3901E9644D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F15A88DA-E02E-DECD-4BD5-F2553D8F1D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6E37615E-1257-0302-6DB8-C388D2400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95555965-58D9-592B-3B8A-19A762BEC4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F016069F-A129-9965-2E98-6BA0FEAB0C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4A51AE58-88C1-85ED-7F0B-72FA0B310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1AB9FDCB-F5A6-6FC6-BB03-ED41D92C0F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4045C7F8-19F2-EA63-4013-715EE42DB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34C6D067-E437-0436-C3DF-CA5C027D6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3195565F-31EF-4F11-D2A8-4D05F361E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055A7B42-2541-F02D-7870-429F558CD1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F9B49D7E-2AF9-3579-586B-B6A055C67D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82D3F4B9-C6F1-4515-39BF-2A106BAA7D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C12FF46E-41B0-6A6E-BA90-E78CE8A54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6A7D0C2B-3D70-75C5-45B0-D451798EFA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ADA0B8DB-048F-2CDF-CCCF-5CA4E95AB1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BF9F8496-00CB-39F9-5F41-2337AD1B1C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03886E70-457B-0DF2-2B85-522988DCB0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01F51D2B-402D-49FE-2C3D-31ACA202C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539C50DC-59E9-6E58-4387-70247370B9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841E6DBC-FD9C-DB4B-2373-C12B3FF1E8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A5BCDE14-4E90-4AE6-9B98-CA71B31533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4DBDC7B7-DA78-B38A-491B-362DC508DD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B697E48B-57D9-22E1-B338-2C67DC3006A6}"/>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DATA PREPARATION</a:t>
            </a:r>
          </a:p>
        </p:txBody>
      </p:sp>
      <p:sp>
        <p:nvSpPr>
          <p:cNvPr id="6" name="Subtitle 5">
            <a:extLst>
              <a:ext uri="{FF2B5EF4-FFF2-40B4-BE49-F238E27FC236}">
                <a16:creationId xmlns:a16="http://schemas.microsoft.com/office/drawing/2014/main" id="{C38886B2-4ED7-3D8C-6B8E-74F71F7C7F31}"/>
              </a:ext>
            </a:extLst>
          </p:cNvPr>
          <p:cNvSpPr>
            <a:spLocks noGrp="1"/>
          </p:cNvSpPr>
          <p:nvPr>
            <p:ph type="subTitle" idx="1"/>
          </p:nvPr>
        </p:nvSpPr>
        <p:spPr>
          <a:xfrm>
            <a:off x="5293947" y="771526"/>
            <a:ext cx="6131291" cy="4806949"/>
          </a:xfrm>
          <a:solidFill>
            <a:schemeClr val="bg2"/>
          </a:solidFill>
        </p:spPr>
        <p:txBody>
          <a:bodyPr vert="horz" lIns="91440" tIns="45720" rIns="91440" bIns="45720" rtlCol="0" anchor="ctr">
            <a:noAutofit/>
          </a:bodyPr>
          <a:lstStyle/>
          <a:p>
            <a:pPr algn="l">
              <a:lnSpc>
                <a:spcPct val="110000"/>
              </a:lnSpc>
            </a:pPr>
            <a:r>
              <a:rPr lang="en-US" dirty="0">
                <a:solidFill>
                  <a:schemeClr val="tx1"/>
                </a:solidFill>
                <a:latin typeface="Times New Roman" panose="02020603050405020304" pitchFamily="18" charset="0"/>
                <a:cs typeface="Times New Roman" panose="02020603050405020304" pitchFamily="18" charset="0"/>
              </a:rPr>
              <a:t>The hospital patient record dataset was first gotten from Maven Analytics Data Playground as agreed by my group after which it was imported to power bi and then the following was done in power query:</a:t>
            </a:r>
          </a:p>
          <a:p>
            <a:pPr indent="-228600" algn="l">
              <a:lnSpc>
                <a:spcPct val="11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Checking for duplicates</a:t>
            </a:r>
          </a:p>
          <a:p>
            <a:pPr algn="l">
              <a:lnSpc>
                <a:spcPct val="110000"/>
              </a:lnSpc>
            </a:pPr>
            <a:r>
              <a:rPr lang="en-US" dirty="0">
                <a:solidFill>
                  <a:schemeClr val="tx1"/>
                </a:solidFill>
                <a:latin typeface="Times New Roman" panose="02020603050405020304" pitchFamily="18" charset="0"/>
                <a:cs typeface="Times New Roman" panose="02020603050405020304" pitchFamily="18" charset="0"/>
              </a:rPr>
              <a:t>we checked for duplicates, and none was found </a:t>
            </a:r>
          </a:p>
          <a:p>
            <a:pPr indent="-228600" algn="l">
              <a:lnSpc>
                <a:spcPct val="11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 Handling missing values </a:t>
            </a:r>
          </a:p>
          <a:p>
            <a:pPr algn="l">
              <a:lnSpc>
                <a:spcPct val="110000"/>
              </a:lnSpc>
            </a:pPr>
            <a:r>
              <a:rPr lang="en-US" dirty="0">
                <a:solidFill>
                  <a:schemeClr val="tx1"/>
                </a:solidFill>
                <a:latin typeface="Times New Roman" panose="02020603050405020304" pitchFamily="18" charset="0"/>
                <a:cs typeface="Times New Roman" panose="02020603050405020304" pitchFamily="18" charset="0"/>
              </a:rPr>
              <a:t>we checked for blanks, and none was found.</a:t>
            </a:r>
          </a:p>
          <a:p>
            <a:pPr indent="-228600" algn="l">
              <a:lnSpc>
                <a:spcPct val="11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data types</a:t>
            </a:r>
          </a:p>
          <a:p>
            <a:pPr algn="l">
              <a:lnSpc>
                <a:spcPct val="110000"/>
              </a:lnSpc>
            </a:pPr>
            <a:r>
              <a:rPr lang="en-US" dirty="0">
                <a:solidFill>
                  <a:schemeClr val="tx1"/>
                </a:solidFill>
                <a:latin typeface="Times New Roman" panose="02020603050405020304" pitchFamily="18" charset="0"/>
                <a:cs typeface="Times New Roman" panose="02020603050405020304" pitchFamily="18" charset="0"/>
              </a:rPr>
              <a:t>we checked data types and changed it where necessary and after all this was done </a:t>
            </a:r>
            <a:r>
              <a:rPr lang="en-US" dirty="0" err="1">
                <a:solidFill>
                  <a:schemeClr val="tx1"/>
                </a:solidFill>
                <a:latin typeface="Times New Roman" panose="02020603050405020304" pitchFamily="18" charset="0"/>
                <a:cs typeface="Times New Roman" panose="02020603050405020304" pitchFamily="18" charset="0"/>
              </a:rPr>
              <a:t>i</a:t>
            </a:r>
            <a:r>
              <a:rPr lang="en-US" dirty="0">
                <a:solidFill>
                  <a:schemeClr val="tx1"/>
                </a:solidFill>
                <a:latin typeface="Times New Roman" panose="02020603050405020304" pitchFamily="18" charset="0"/>
                <a:cs typeface="Times New Roman" panose="02020603050405020304" pitchFamily="18" charset="0"/>
              </a:rPr>
              <a:t> closed and loaded after which I created my measures and column</a:t>
            </a:r>
          </a:p>
        </p:txBody>
      </p:sp>
    </p:spTree>
    <p:extLst>
      <p:ext uri="{BB962C8B-B14F-4D97-AF65-F5344CB8AC3E}">
        <p14:creationId xmlns:p14="http://schemas.microsoft.com/office/powerpoint/2010/main" val="262195395"/>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D909697-3C74-1236-9597-78CB2C872C86}"/>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6E7E93F1-E8A3-13BA-6724-4E213FF4B5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4C17F09E-4B47-65A7-F275-67AF3E6257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3C89C3F5-36FB-86C6-5B1A-5F396D0F4A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9D1F0CCB-9F74-2244-A278-7F9F347FBC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7655DC5A-E11C-3AA6-3A3C-CE3E50F077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75E096D7-F9FC-D6F6-D51B-382168E3D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BB35CB28-338E-15CF-72BD-12B23741E0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9E6A35C3-0D5D-62D0-3723-EF406B2C1A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86D671DC-2DFA-EE20-32ED-15A9AE8F7F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E0B5B721-E706-98DC-E001-B9D814BD2E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9CE673BF-D4F7-B575-70C4-E0522BEA8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D09248E5-9D51-38D0-BAA7-F57281BBD8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CC020474-1BC2-0C12-86E2-5FF45FCD8D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306BE068-031B-87DB-6B13-B253F1346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3D417799-95DB-9514-C428-BB3189BF2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8195082C-CCA7-23FB-03A7-D2585BC893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B84A7BC4-2640-B9B6-2671-BB19AF4BF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FA0B2010-EB3B-1DF3-C2D0-DB45D992E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ADBC13DA-61B4-6CE9-F351-55E5820EF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D9C594A5-2481-2780-866A-90FC1B9F72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C4E70F36-714D-30DE-8404-8F56B4EA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5FD83D87-821D-E3D1-27BD-390162EA2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0850DB53-2F73-49A3-DA22-A1AB30B9EE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2B98C167-0192-9401-1181-021089E756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5E8FC01C-C2F1-14E3-2B44-8C89854745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60AD24A9-3ECE-75A2-E157-E9D0E1457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E60E7EAE-37F3-D384-4B8F-1BFE228027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31470581-FD31-FAD7-F21A-289D186776A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E331BBE7-BDD2-282F-B559-2104827BE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52F78C07-121A-B784-C8CC-6F234C4CF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A2723195-CB14-0F94-AA88-46747B17FE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55A84F76-758B-401F-088C-A415CBA82D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22BEA8B7-EB82-83BF-4307-DD566FB467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07A06C22-2359-3D5E-963E-4E5F825D7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9503DCE9-FC65-2146-4CA8-A6C0474941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FF633F16-FF6F-1874-3461-00CE51D254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3EF9C4BA-290A-9609-5171-B7B88D2ED4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BB975224-A3C0-A450-F95A-8A5FFBB108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6AD1AD0C-8014-07F7-5AF8-4D64A11AE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4CB0F644-1152-37CB-6061-C3CBFAC8E8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5DE36E68-2E01-3EC2-FB37-ABCF3E22DF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E14B9614-D6EC-57BC-17E5-1ECE5EB8E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1CD7C31D-8D80-1359-6E63-0CAC1D92EF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0F541167-2C5F-869B-492D-729823AFF7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B5105008-3891-0D74-FA18-FD55ECDA9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F1540C97-4110-4F07-7FD3-2E30C655A7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FA1D6C5A-44B3-1EA8-DD43-214015903B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06E3D54F-0A1E-F13F-DD95-AE6DCF3879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E1E943C6-1894-7414-852F-DD0F5EF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C3ECB68D-9F78-FFA2-5D39-1FFF26BF024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51642D94-E332-AE27-F634-2EC542166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B53F5AA7-8787-B91A-B9BF-C443CA42A5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A23CDB28-0851-556D-D9A8-FBE29C4A1C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15021340-8D60-5285-B021-94E119427749}"/>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DATA PREPARATION</a:t>
            </a:r>
          </a:p>
        </p:txBody>
      </p:sp>
      <p:sp>
        <p:nvSpPr>
          <p:cNvPr id="6" name="Subtitle 5">
            <a:extLst>
              <a:ext uri="{FF2B5EF4-FFF2-40B4-BE49-F238E27FC236}">
                <a16:creationId xmlns:a16="http://schemas.microsoft.com/office/drawing/2014/main" id="{713839A3-F612-898F-96D7-76BE8B5918B9}"/>
              </a:ext>
            </a:extLst>
          </p:cNvPr>
          <p:cNvSpPr>
            <a:spLocks noGrp="1"/>
          </p:cNvSpPr>
          <p:nvPr>
            <p:ph type="subTitle" idx="1"/>
          </p:nvPr>
        </p:nvSpPr>
        <p:spPr>
          <a:xfrm>
            <a:off x="5416551" y="1273996"/>
            <a:ext cx="6149734" cy="4234630"/>
          </a:xfrm>
          <a:solidFill>
            <a:schemeClr val="bg2"/>
          </a:solidFill>
        </p:spPr>
        <p:txBody>
          <a:bodyPr vert="horz" lIns="91440" tIns="45720" rIns="91440" bIns="45720" rtlCol="0" anchor="ctr">
            <a:noAutofit/>
          </a:bodyPr>
          <a:lstStyle/>
          <a:p>
            <a:pPr indent="-228600" algn="l">
              <a:lnSpc>
                <a:spcPct val="11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Creating measures</a:t>
            </a:r>
          </a:p>
          <a:p>
            <a:pPr algn="l">
              <a:lnSpc>
                <a:spcPct val="110000"/>
              </a:lnSpc>
            </a:pPr>
            <a:r>
              <a:rPr lang="en-US" dirty="0">
                <a:solidFill>
                  <a:schemeClr val="tx1"/>
                </a:solidFill>
                <a:latin typeface="Times New Roman" panose="02020603050405020304" pitchFamily="18" charset="0"/>
                <a:cs typeface="Times New Roman" panose="02020603050405020304" pitchFamily="18" charset="0"/>
              </a:rPr>
              <a:t>I created a new table called calculations and then I created  some measures for my analysis, and they are: Total Patients, Total Encounters, Total Procedures, Total Claim Cost, Average Encounter Cost, Average Age, Male Patients, Female Patients, % Male, % Female, Average Encounter Cost, Encounters per Patient, Total Payer Coverage, YoY Patient Growth %, Number of Patient previous and current year.</a:t>
            </a:r>
          </a:p>
          <a:p>
            <a:pPr indent="-228600" algn="l">
              <a:lnSpc>
                <a:spcPct val="110000"/>
              </a:lnSpc>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Creating calculated column</a:t>
            </a:r>
          </a:p>
          <a:p>
            <a:pPr algn="l">
              <a:lnSpc>
                <a:spcPct val="110000"/>
              </a:lnSpc>
            </a:pPr>
            <a:r>
              <a:rPr lang="en-US" dirty="0">
                <a:solidFill>
                  <a:schemeClr val="tx1"/>
                </a:solidFill>
                <a:latin typeface="Times New Roman" panose="02020603050405020304" pitchFamily="18" charset="0"/>
                <a:cs typeface="Times New Roman" panose="02020603050405020304" pitchFamily="18" charset="0"/>
              </a:rPr>
              <a:t>I created some calculated columns for my analysis, and they are: Age, Age Group, Age Group Sort</a:t>
            </a:r>
          </a:p>
        </p:txBody>
      </p:sp>
    </p:spTree>
    <p:extLst>
      <p:ext uri="{BB962C8B-B14F-4D97-AF65-F5344CB8AC3E}">
        <p14:creationId xmlns:p14="http://schemas.microsoft.com/office/powerpoint/2010/main" val="2967151203"/>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E0D3153-FFF8-F96D-8C60-6F79E67BD402}"/>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33BB6298-4E1B-81C8-C566-AE0C0CB300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A5385A1D-2E62-9D40-6114-E56B81BF04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69D9620B-008D-463E-5817-35078DB191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A12DFD06-0B2D-8413-15C9-C622146D2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6CA86E30-DEC6-6F7D-A84A-3D65E09E7C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395AC0EE-CA5F-586B-D980-61A0303087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4ECD6B56-5CF5-96B1-7B5E-25F5671C07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F2BE522C-935C-3941-E6DD-352CEEB358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93E767E7-2F68-7B24-7134-BE0C9C8A78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CD6EF750-34BF-81B0-2374-AF54745FCE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F107ACA4-2861-8E99-FD58-5066A48D0C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7C71FA35-F323-EBE0-55D3-DDE2344DF5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29DA8BED-AEB3-D390-F95A-974904393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B0AA4104-4776-C6DA-FB43-8E1AA0472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FE41E16B-0537-D23C-4AAE-4C30573C1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AB0FEBB2-ABA6-ED94-1561-18DD348DDA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3F5E44E4-6943-7EAA-DBE2-6D6411DB2C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76AC1BCB-00BC-87C1-93FF-8976C73CE5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6BB6EB35-89A5-6D02-BB76-A9CBC215C8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6D5C5B0B-8735-DF0E-D37D-5A8793D0F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237C2988-652B-FD6A-7CA5-83ED36B5D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247927DE-6B0D-23C8-C1AB-D5277C3CEB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A6343F0C-ED0C-8077-551F-7309F817C1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B9E2FDC8-FB6A-C75C-1AD5-DF19300D97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164044B1-5F7C-8CBF-F46A-0080175511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BA6ABDD6-1FD4-544F-A201-5F1238A23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10D7D849-D2BA-FAC0-AFA2-9FD1B0ED8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76349AEF-C64C-967A-8252-8BDAFA6E93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4EDC1BCD-61E5-6591-299D-474384DACE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3E43E6EB-9A72-47D5-D584-760C52FF5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EA28F6F5-1895-7317-30A2-B225B6980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3C1CFFC2-8815-35BE-97F4-FFB5E5092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BFE99B4C-BAF0-9927-7CA2-0F221CF20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B358219E-3F6C-678E-2134-A62B819AD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7A7C8F1B-69A3-1655-6DA8-29DC6C9923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1F52FD14-CAF1-5540-BD8F-6AE925B42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74AA3FEF-2255-BEB8-32FE-BE37C1DE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610DA8DC-B960-8F15-D792-5A03197E10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11878055-1B19-32BC-6E9C-84672975A7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502F12AB-7AC9-410E-7F40-38048E7260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5DDFBB1F-C996-C321-65E0-BB1EC1FA52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BFDF8712-0751-FE89-46EA-78447C13F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9CDDB868-90B3-D844-36A1-73177CD784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213ED450-8D2E-6F65-7318-F47B308A87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49E50077-5A0B-73BE-B625-943E4D32A3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E10AA9C5-B350-F21A-B2A4-E7FA76BB6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0C5165E0-CF92-6783-49CB-CD7091FA76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CBAA3C08-A938-B956-C612-3B14DD1C2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30BB762F-7C27-A17B-A773-D2DC5FF3A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0D962ECF-BDC9-F8F7-6378-73C236F352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18184D8D-A2F1-1747-1A85-F49B6EED4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6B00624F-C8A8-A806-DD41-352314DA92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4596D702-DDA0-12FB-3A66-78EFD842E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3327058F-C06A-95C7-B1AA-38F349DF83D8}"/>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ANALYSIS AND FINDINGS</a:t>
            </a:r>
          </a:p>
        </p:txBody>
      </p:sp>
      <p:sp>
        <p:nvSpPr>
          <p:cNvPr id="6" name="Subtitle 5">
            <a:extLst>
              <a:ext uri="{FF2B5EF4-FFF2-40B4-BE49-F238E27FC236}">
                <a16:creationId xmlns:a16="http://schemas.microsoft.com/office/drawing/2014/main" id="{4B431451-5702-3510-566C-313CF71F0D74}"/>
              </a:ext>
            </a:extLst>
          </p:cNvPr>
          <p:cNvSpPr>
            <a:spLocks noGrp="1"/>
          </p:cNvSpPr>
          <p:nvPr>
            <p:ph type="subTitle" idx="1"/>
          </p:nvPr>
        </p:nvSpPr>
        <p:spPr>
          <a:xfrm>
            <a:off x="5293947" y="827089"/>
            <a:ext cx="6299566" cy="5316858"/>
          </a:xfrm>
          <a:solidFill>
            <a:schemeClr val="bg2"/>
          </a:solidFill>
        </p:spPr>
        <p:txBody>
          <a:bodyPr vert="horz" lIns="91440" tIns="45720" rIns="91440" bIns="45720" rtlCol="0" anchor="ctr">
            <a:noAutofit/>
          </a:bodyPr>
          <a:lstStyle/>
          <a:p>
            <a:pPr algn="l">
              <a:lnSpc>
                <a:spcPct val="120000"/>
              </a:lnSpc>
            </a:pPr>
            <a:r>
              <a:rPr lang="en-US" b="1" dirty="0">
                <a:solidFill>
                  <a:schemeClr val="tx1"/>
                </a:solidFill>
                <a:latin typeface="Times New Roman" panose="02020603050405020304" pitchFamily="18" charset="0"/>
                <a:cs typeface="Times New Roman" panose="02020603050405020304" pitchFamily="18" charset="0"/>
              </a:rPr>
              <a:t>KEY PERFORMANCE INDICATORS (KPIs):</a:t>
            </a:r>
          </a:p>
          <a:p>
            <a:pPr algn="l">
              <a:lnSpc>
                <a:spcPct val="120000"/>
              </a:lnSpc>
            </a:pPr>
            <a:r>
              <a:rPr lang="en-US" b="1" dirty="0">
                <a:solidFill>
                  <a:schemeClr val="tx1"/>
                </a:solidFill>
                <a:latin typeface="Times New Roman" panose="02020603050405020304" pitchFamily="18" charset="0"/>
                <a:cs typeface="Times New Roman" panose="02020603050405020304" pitchFamily="18" charset="0"/>
              </a:rPr>
              <a:t>OVERVIEW PAGE</a:t>
            </a:r>
          </a:p>
          <a:p>
            <a:pPr indent="-228600" algn="l">
              <a:lnSpc>
                <a:spcPct val="120000"/>
              </a:lnSpc>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Total Patients (974): </a:t>
            </a:r>
            <a:r>
              <a:rPr lang="en-US" dirty="0">
                <a:solidFill>
                  <a:schemeClr val="tx1"/>
                </a:solidFill>
                <a:latin typeface="Times New Roman" panose="02020603050405020304" pitchFamily="18" charset="0"/>
                <a:cs typeface="Times New Roman" panose="02020603050405020304" pitchFamily="18" charset="0"/>
              </a:rPr>
              <a:t>Number of unique patients in the dataset.</a:t>
            </a:r>
          </a:p>
          <a:p>
            <a:pPr indent="-228600" algn="l">
              <a:lnSpc>
                <a:spcPct val="120000"/>
              </a:lnSpc>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Total Claim Cost ($101.51M): </a:t>
            </a:r>
            <a:r>
              <a:rPr lang="en-US" dirty="0">
                <a:solidFill>
                  <a:schemeClr val="tx1"/>
                </a:solidFill>
                <a:latin typeface="Times New Roman" panose="02020603050405020304" pitchFamily="18" charset="0"/>
                <a:cs typeface="Times New Roman" panose="02020603050405020304" pitchFamily="18" charset="0"/>
              </a:rPr>
              <a:t>Sum of all healthcare claim costs submitted.</a:t>
            </a:r>
          </a:p>
          <a:p>
            <a:pPr indent="-228600" algn="l">
              <a:lnSpc>
                <a:spcPct val="120000"/>
              </a:lnSpc>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Total Procedures (47.7K): </a:t>
            </a:r>
            <a:r>
              <a:rPr lang="en-US" dirty="0">
                <a:solidFill>
                  <a:schemeClr val="tx1"/>
                </a:solidFill>
                <a:latin typeface="Times New Roman" panose="02020603050405020304" pitchFamily="18" charset="0"/>
                <a:cs typeface="Times New Roman" panose="02020603050405020304" pitchFamily="18" charset="0"/>
              </a:rPr>
              <a:t>Number of procedures performed across all encounters.</a:t>
            </a:r>
          </a:p>
          <a:p>
            <a:pPr indent="-228600" algn="l">
              <a:lnSpc>
                <a:spcPct val="120000"/>
              </a:lnSpc>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Total Encounters (27.9K): </a:t>
            </a:r>
            <a:r>
              <a:rPr lang="en-US" dirty="0">
                <a:solidFill>
                  <a:schemeClr val="tx1"/>
                </a:solidFill>
                <a:latin typeface="Times New Roman" panose="02020603050405020304" pitchFamily="18" charset="0"/>
                <a:cs typeface="Times New Roman" panose="02020603050405020304" pitchFamily="18" charset="0"/>
              </a:rPr>
              <a:t>Total number of hospital visits (inpatient, outpatient, emergency, etc.).</a:t>
            </a:r>
          </a:p>
          <a:p>
            <a:pPr indent="-228600" algn="l">
              <a:lnSpc>
                <a:spcPct val="120000"/>
              </a:lnSpc>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Average Encounter Cost ($3.64K): </a:t>
            </a:r>
            <a:r>
              <a:rPr lang="en-US" dirty="0">
                <a:solidFill>
                  <a:schemeClr val="tx1"/>
                </a:solidFill>
                <a:latin typeface="Times New Roman" panose="02020603050405020304" pitchFamily="18" charset="0"/>
                <a:cs typeface="Times New Roman" panose="02020603050405020304" pitchFamily="18" charset="0"/>
              </a:rPr>
              <a:t>Average financial cost per patient encounter, calculated as total claim cost ÷ encounters.</a:t>
            </a:r>
          </a:p>
        </p:txBody>
      </p:sp>
    </p:spTree>
    <p:extLst>
      <p:ext uri="{BB962C8B-B14F-4D97-AF65-F5344CB8AC3E}">
        <p14:creationId xmlns:p14="http://schemas.microsoft.com/office/powerpoint/2010/main" val="349875207"/>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8270653-4DEC-119B-6803-9356DA606FD0}"/>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C07916FF-3705-8F7B-855D-BA2FCE0EC5F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0196C6EE-55F8-D77E-7A4A-4656EC207B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4E56C1ED-8B3A-0287-C7CB-F141E0E8A6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FACD401A-0A23-145C-04B0-9365E8780C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89C5EA77-C46C-3265-FE0E-D860664F14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39F6DB93-B012-F76F-7E2A-329B1BB41F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E515E983-4FE3-DC33-0588-AF657B6564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04ACBC60-4584-8DF1-70B0-FAE16A5A3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285E0389-9EC6-3C5D-17F6-E5AD2D1C6A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2A9CE3FF-108A-2F75-CCB6-1D208975A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BD6D6399-29B5-5182-902A-1B6E580CBD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DFBC332D-4404-9EAB-4BD1-2077DD8C4A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FD093484-C38F-56D8-4FA1-EE2521D6E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23772243-A00A-ECDE-C63F-8874046A4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460E6645-F7D2-3880-5758-4E20309184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FF5A4B91-3598-BF78-0A93-D75AC89705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C4ABF6FD-9ADB-2B04-95B7-7D33B9B08B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1C2F979B-E191-7601-1920-978084E2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44792187-92EA-9247-C596-1CFE8A997D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61CEEF72-423B-6CC8-AD17-A36A76699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1EB85C89-1E2D-FB9F-6190-70915AE387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0332F3F3-5C46-4F54-D60D-6F8A67FD6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FFAD35EC-F2FD-75EC-05E6-BF95D142AC4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AF962592-67B0-CF00-9FC5-99C10C3B6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F21A1458-1698-ABFC-2C41-5F6022104B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2974DD4E-33D6-8B80-35AE-B33DC495C6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ECC3CD8C-C875-9F3D-EC8D-7ED3378AE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6C081BBA-F58F-D7A6-A5DE-52F4976EF8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BDE1D3DC-4E84-41F9-CC6F-7969E08732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BE41B992-2416-BC09-D151-38C6820BC0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338762A9-3688-CD3B-82BE-4E58E506D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6DEA60F8-004B-70F1-B59A-581C6E624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B09BCEF2-C9F0-7299-1F64-08661E96B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154E2953-39FC-4E7D-8B59-5605E3158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DA84481A-B017-49D2-34A4-47025C2EE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42E0D2CD-4EDA-995C-79C9-EE63A10DEC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17250137-8A92-B06B-CA74-B4E2D60ED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443F4D96-4665-676C-A2D3-92C6A661FC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87DD6DA0-AB49-DF0D-CE82-A8EFC597B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8A90F7B9-EAB5-70BE-FB94-6DA7957679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E0911B98-D68C-4E77-D8D3-11BA3816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8E9267A9-FA7E-636F-13E8-B43D51857C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55F98282-14A7-2384-ABD0-4D3AEE8A2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D0234FDE-FC3B-598A-AA37-CCD1E921BF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8D099335-C6A1-BD6B-8115-950124F8F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783A80A9-5296-1B46-1DDD-9BEF0F9D50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EB99B1E9-175D-3A18-3F8F-A777873193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307BC185-1650-D99F-F5CC-D874869310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F9B939F3-C973-A675-A8C3-7168869C16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15ED156F-D4A6-B8D1-5384-36C42A7D00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38F9D828-48B8-052F-F236-D57C2B7297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878C57F0-3672-D7BA-AF4B-F5BC13427E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95631CAA-FAA2-D1D5-A4C2-5C20913999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7F20B8B4-519E-2C42-BD42-B9EECE25F3E3}"/>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ANALYSIS AND FINDINGS</a:t>
            </a:r>
          </a:p>
        </p:txBody>
      </p:sp>
      <p:sp>
        <p:nvSpPr>
          <p:cNvPr id="6" name="Subtitle 5">
            <a:extLst>
              <a:ext uri="{FF2B5EF4-FFF2-40B4-BE49-F238E27FC236}">
                <a16:creationId xmlns:a16="http://schemas.microsoft.com/office/drawing/2014/main" id="{6F6C5DC5-126D-E7DC-917E-FA37F99D4256}"/>
              </a:ext>
            </a:extLst>
          </p:cNvPr>
          <p:cNvSpPr>
            <a:spLocks noGrp="1"/>
          </p:cNvSpPr>
          <p:nvPr>
            <p:ph type="subTitle" idx="1"/>
          </p:nvPr>
        </p:nvSpPr>
        <p:spPr>
          <a:xfrm>
            <a:off x="5214937" y="1613042"/>
            <a:ext cx="6286501" cy="3776521"/>
          </a:xfrm>
          <a:solidFill>
            <a:schemeClr val="bg2"/>
          </a:solidFill>
        </p:spPr>
        <p:txBody>
          <a:bodyPr vert="horz" lIns="91440" tIns="45720" rIns="91440" bIns="45720" rtlCol="0" anchor="ctr">
            <a:noAutofit/>
          </a:bodyPr>
          <a:lstStyle/>
          <a:p>
            <a:pPr algn="l">
              <a:lnSpc>
                <a:spcPct val="120000"/>
              </a:lnSpc>
            </a:pPr>
            <a:r>
              <a:rPr lang="en-US" b="1" dirty="0">
                <a:solidFill>
                  <a:schemeClr val="tx1"/>
                </a:solidFill>
                <a:latin typeface="Times New Roman" panose="02020603050405020304" pitchFamily="18" charset="0"/>
                <a:cs typeface="Times New Roman" panose="02020603050405020304" pitchFamily="18" charset="0"/>
              </a:rPr>
              <a:t>KEY PERFORMANCE INDICATORS (KPIs):</a:t>
            </a:r>
          </a:p>
          <a:p>
            <a:pPr algn="l">
              <a:lnSpc>
                <a:spcPct val="120000"/>
              </a:lnSpc>
            </a:pPr>
            <a:r>
              <a:rPr lang="en-US" b="1" dirty="0">
                <a:solidFill>
                  <a:schemeClr val="tx1"/>
                </a:solidFill>
                <a:latin typeface="Times New Roman" panose="02020603050405020304" pitchFamily="18" charset="0"/>
                <a:cs typeface="Times New Roman" panose="02020603050405020304" pitchFamily="18" charset="0"/>
              </a:rPr>
              <a:t>PATIENT INSIGHTS PAGE</a:t>
            </a:r>
          </a:p>
          <a:p>
            <a:pPr indent="-228600" algn="l">
              <a:lnSpc>
                <a:spcPct val="120000"/>
              </a:lnSpc>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Average Age of Patients (73): </a:t>
            </a:r>
            <a:r>
              <a:rPr lang="en-US" dirty="0">
                <a:solidFill>
                  <a:schemeClr val="tx1"/>
                </a:solidFill>
                <a:latin typeface="Times New Roman" panose="02020603050405020304" pitchFamily="18" charset="0"/>
                <a:cs typeface="Times New Roman" panose="02020603050405020304" pitchFamily="18" charset="0"/>
              </a:rPr>
              <a:t>The mean age of all patients, showing an elderly-dominant population.</a:t>
            </a:r>
          </a:p>
          <a:p>
            <a:pPr indent="-228600" algn="l">
              <a:lnSpc>
                <a:spcPct val="120000"/>
              </a:lnSpc>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 Male (50.7%) &amp; % Female (49.3%): </a:t>
            </a:r>
            <a:r>
              <a:rPr lang="en-US" dirty="0">
                <a:solidFill>
                  <a:schemeClr val="tx1"/>
                </a:solidFill>
                <a:latin typeface="Times New Roman" panose="02020603050405020304" pitchFamily="18" charset="0"/>
                <a:cs typeface="Times New Roman" panose="02020603050405020304" pitchFamily="18" charset="0"/>
              </a:rPr>
              <a:t>Gender distribution of the patient base.</a:t>
            </a:r>
          </a:p>
          <a:p>
            <a:pPr indent="-228600" algn="l">
              <a:lnSpc>
                <a:spcPct val="120000"/>
              </a:lnSpc>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Ethnicity (% Non-Hispanic 80.4%, Hispanic 19.6%): </a:t>
            </a:r>
            <a:r>
              <a:rPr lang="en-US" dirty="0">
                <a:solidFill>
                  <a:schemeClr val="tx1"/>
                </a:solidFill>
                <a:latin typeface="Times New Roman" panose="02020603050405020304" pitchFamily="18" charset="0"/>
                <a:cs typeface="Times New Roman" panose="02020603050405020304" pitchFamily="18" charset="0"/>
              </a:rPr>
              <a:t>Ethnic breakdown of the patient population.</a:t>
            </a:r>
          </a:p>
        </p:txBody>
      </p:sp>
    </p:spTree>
    <p:extLst>
      <p:ext uri="{BB962C8B-B14F-4D97-AF65-F5344CB8AC3E}">
        <p14:creationId xmlns:p14="http://schemas.microsoft.com/office/powerpoint/2010/main" val="3266820068"/>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6C31219-2911-50DE-87E0-D0BC10E1B8C0}"/>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0F69AA39-1538-E887-811F-54A5842AB7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48A4AA13-18A3-8223-3463-D419068B5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98592AA1-ADC6-08EF-FF63-FC206A9870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33718120-4758-0034-AF96-1DEF2794DC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189EF48D-B195-157C-294B-AFD8ED417C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47049890-CDC9-36F7-765E-786A6360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AA57B74A-F5D5-678A-2925-953D12CB11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1D19B881-256D-D9A6-000C-FA66EA82E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B7BE3124-E36F-7562-CCE6-0435424848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9AED00FF-D224-2F65-7939-0414353A2B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E8474F52-A263-CCE8-6BB6-FAB949510F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D3F6285F-3468-1669-FD6D-8BDA8E4EC5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8F00F997-FB1A-CBCD-8D08-44B08107A7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2C022D39-8BD8-4B12-AE9F-E19B1AEBB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8FB90216-796D-70CD-7DD5-0ACB2CC2D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90AB29DD-8220-3C1C-2F97-2F16C41032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378CDA0F-D287-6CA3-8F1E-EF68B31E5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071FC13F-887A-8910-6211-700A01465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B0C4E235-B20D-1062-0967-CD7DCA2276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A091ECD0-19A4-B602-FBA3-C486415C70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F5787CBF-781C-0796-AAB0-1E9100198A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D7016C86-941D-04CB-93B3-FAA1A5955C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E2E9ED96-66BA-2CA9-1081-B833A1694D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DE51BD9A-51B5-C9E4-4846-2AC0DFD09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62C1F0EC-9D51-7350-D8DA-A7D918AA29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8511B200-5CA0-77B0-D52C-18AF70EFEB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F0FB1375-419E-251E-79FD-9C4819751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81ABBD54-CE4D-CA69-DAA5-6FEDA6BAA5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E39677F9-653B-56FB-DEB0-5963D9C56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240BF7C4-168E-70EC-076A-C3C98F405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8C2A61F3-881D-472B-1731-4327E862A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67F94575-EC6E-69C1-F79D-150E45C3E6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434C736F-A768-E68B-6510-D983C35E20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03AFD4A8-DAA5-E0DB-4F5D-32003C83D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CF690079-D80D-9226-4258-D7023D37D4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48363C80-3EA2-C321-52E6-DDF881648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4497F1E5-6456-DF93-0837-6964DD0E6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88AC08F8-EFB5-FA7D-9786-F944F660B4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CDA7A39C-76C6-5D8A-1267-2157B6DA15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EB6E243A-441D-0DE4-ADCA-20CA2AD6E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F01B7A1E-CD99-25A7-12F7-E8F69ECC1D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F63A0C0F-1BDB-8A52-FA48-E58836C73F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E17E4E02-15B7-DBF1-8ACF-A8568DBF5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4F452C85-0524-BC12-F8DA-C6917624D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55296970-9F1B-B3D2-50D5-DC79838D74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E2AD7E25-5C5A-E7E7-9BD2-8F6D5CB07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1DB7C3AB-737F-ED01-9B69-601720080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E168C67D-CEF1-D588-E2AB-5758803063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B944F3F5-908D-916A-FB9B-CD3E19CAB4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CB43822B-3528-DAD7-4B9E-4EF65283F6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F81222BD-F9C7-B011-7579-3768D7E201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5E927978-E9A9-3696-D878-A74BA8122E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37A1682E-4798-C0DC-A1B3-BAF6A25ED1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80A1B45C-F884-AE7F-76DF-D1A475613059}"/>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ANALYSIS AND FINDINGS</a:t>
            </a:r>
          </a:p>
        </p:txBody>
      </p:sp>
      <p:sp>
        <p:nvSpPr>
          <p:cNvPr id="6" name="Subtitle 5">
            <a:extLst>
              <a:ext uri="{FF2B5EF4-FFF2-40B4-BE49-F238E27FC236}">
                <a16:creationId xmlns:a16="http://schemas.microsoft.com/office/drawing/2014/main" id="{30F45362-B0F6-9108-37B8-FFFF145D551F}"/>
              </a:ext>
            </a:extLst>
          </p:cNvPr>
          <p:cNvSpPr>
            <a:spLocks noGrp="1"/>
          </p:cNvSpPr>
          <p:nvPr>
            <p:ph type="subTitle" idx="1"/>
          </p:nvPr>
        </p:nvSpPr>
        <p:spPr>
          <a:xfrm>
            <a:off x="5061936" y="1489753"/>
            <a:ext cx="6439502" cy="4028396"/>
          </a:xfrm>
          <a:solidFill>
            <a:schemeClr val="bg2"/>
          </a:solidFill>
        </p:spPr>
        <p:txBody>
          <a:bodyPr vert="horz" lIns="91440" tIns="45720" rIns="91440" bIns="45720" rtlCol="0" anchor="ctr">
            <a:noAutofit/>
          </a:bodyPr>
          <a:lstStyle/>
          <a:p>
            <a:pPr algn="l">
              <a:lnSpc>
                <a:spcPct val="120000"/>
              </a:lnSpc>
            </a:pPr>
            <a:r>
              <a:rPr lang="en-US" b="1" dirty="0">
                <a:solidFill>
                  <a:schemeClr val="tx1"/>
                </a:solidFill>
                <a:latin typeface="Times New Roman" panose="02020603050405020304" pitchFamily="18" charset="0"/>
                <a:cs typeface="Times New Roman" panose="02020603050405020304" pitchFamily="18" charset="0"/>
              </a:rPr>
              <a:t>KEY PERFORMANCE INDICATORS (KPIs):</a:t>
            </a:r>
          </a:p>
          <a:p>
            <a:pPr algn="l">
              <a:lnSpc>
                <a:spcPct val="120000"/>
              </a:lnSpc>
            </a:pPr>
            <a:r>
              <a:rPr lang="en-US" b="1" dirty="0">
                <a:solidFill>
                  <a:schemeClr val="tx1"/>
                </a:solidFill>
                <a:latin typeface="Times New Roman" panose="02020603050405020304" pitchFamily="18" charset="0"/>
                <a:cs typeface="Times New Roman" panose="02020603050405020304" pitchFamily="18" charset="0"/>
              </a:rPr>
              <a:t>CLINICAL ACTIVITY AND COSTS</a:t>
            </a:r>
            <a:endParaRPr lang="en-US" b="1" dirty="0">
              <a:solidFill>
                <a:schemeClr val="tx1"/>
              </a:solidFill>
            </a:endParaRPr>
          </a:p>
          <a:p>
            <a:pPr indent="-228600" algn="l">
              <a:lnSpc>
                <a:spcPct val="120000"/>
              </a:lnSpc>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Average Base Cost ($2.21K): </a:t>
            </a:r>
            <a:r>
              <a:rPr lang="en-US" dirty="0">
                <a:solidFill>
                  <a:schemeClr val="tx1"/>
                </a:solidFill>
                <a:latin typeface="Times New Roman" panose="02020603050405020304" pitchFamily="18" charset="0"/>
                <a:cs typeface="Times New Roman" panose="02020603050405020304" pitchFamily="18" charset="0"/>
              </a:rPr>
              <a:t>The mean base cost of medical procedures.</a:t>
            </a:r>
          </a:p>
          <a:p>
            <a:pPr indent="-228600" algn="l">
              <a:lnSpc>
                <a:spcPct val="120000"/>
              </a:lnSpc>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Encounters per Patient (29): </a:t>
            </a:r>
            <a:r>
              <a:rPr lang="en-US" dirty="0">
                <a:solidFill>
                  <a:schemeClr val="tx1"/>
                </a:solidFill>
                <a:latin typeface="Times New Roman" panose="02020603050405020304" pitchFamily="18" charset="0"/>
                <a:cs typeface="Times New Roman" panose="02020603050405020304" pitchFamily="18" charset="0"/>
              </a:rPr>
              <a:t>Average number of encounters per patient, reflecting how often patients return.</a:t>
            </a:r>
          </a:p>
          <a:p>
            <a:pPr indent="-228600" algn="l">
              <a:lnSpc>
                <a:spcPct val="120000"/>
              </a:lnSpc>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Total Encounters (47.7K): </a:t>
            </a:r>
            <a:r>
              <a:rPr lang="en-US" dirty="0">
                <a:solidFill>
                  <a:schemeClr val="tx1"/>
                </a:solidFill>
                <a:latin typeface="Times New Roman" panose="02020603050405020304" pitchFamily="18" charset="0"/>
                <a:cs typeface="Times New Roman" panose="02020603050405020304" pitchFamily="18" charset="0"/>
              </a:rPr>
              <a:t>Same as overview, but here it supports procedure-level analysis.</a:t>
            </a:r>
          </a:p>
        </p:txBody>
      </p:sp>
    </p:spTree>
    <p:extLst>
      <p:ext uri="{BB962C8B-B14F-4D97-AF65-F5344CB8AC3E}">
        <p14:creationId xmlns:p14="http://schemas.microsoft.com/office/powerpoint/2010/main" val="2373179061"/>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BD144E3-5085-060D-B62E-D3D216CDE37A}"/>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345AB73A-D289-17A6-36FE-3B803F1569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1E0A4B0A-466A-4442-9A8A-5FF9B9C4F2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B89DF2B1-8417-94EB-5D12-9DDC2FF05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4F36E084-FEF8-B5B9-7798-D5FAF82F5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C9579EF1-C513-8F45-D521-BEFF6C94F6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7099B122-570A-0F59-35AE-F8291B6AF1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27277D4F-50D1-1AA6-231A-2C1A05765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A24F7622-161A-DF44-694F-CFFDDCA50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6A425AB1-D693-415B-36BD-F934FC19C2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88A2AD3D-48FB-EB4B-7834-E79663AD08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4D6826DB-1AAD-90A6-F5BA-3DEDFD6201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6F4A9EAC-8B1E-19C2-FE68-F3A76E4A07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118BBA27-9DCC-B412-C733-37B8E7A9F1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2C24C54D-7F95-E1CB-662F-69192E1B8F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5C18FA7A-EA8D-7201-7EBA-47C1392F9C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E9DDBE39-F698-6DE2-2ACD-F1FBEA81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6C39909F-06FA-76AA-8093-4C2E812A6B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5942B022-6EC9-BCA8-C01E-1A76CBA59E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BC8B40D4-9081-9381-EFED-34416F1BE5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AEFF1E7E-791A-40F6-5F0F-ADE4DA81D6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CBB5179F-DC23-AF67-2EA7-7C254D1715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36325A76-53F0-EDC7-2B64-2D16EEB3BF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B8F1BDCF-CCB8-483A-6853-49C309B1DC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3376516E-3C8E-7AAA-AC0E-378E1B6E9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4163D88C-9B7A-908E-1AC5-9DF748B4E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C792A7DC-0506-2B8C-DD4F-0903EFBAC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26A0F91C-E487-CDFD-144F-28EECB5C11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6AB2AA88-5D0F-1029-1D7C-92F2A866E4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5834368A-32F6-E1B1-335A-DB526CA9B5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0D2907C6-1F17-10B3-6C7E-0D836783A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64639215-F8F7-ACB5-F9BC-1243548D5D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C440C30E-C60E-410C-2C0D-5516AA84A1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31F4222C-FEC2-69C4-171D-B683832A4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CB97A52B-15E4-0CEF-5C9B-223E4FF74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67A313E1-140C-36C3-D963-DD6988E0B3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CE7CE5AD-2A82-892D-C0C4-7BC662134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AD132A7E-521D-C853-4FCF-AF8DAAFBDB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59B731FD-6223-9EE3-2679-5DAEC6E858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097F1CE3-C034-5385-C3CE-0E19C9E9B3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D7229748-5F46-0F96-A487-8C8CEDBAB5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B2C2EED3-A617-6E2B-32DF-6E969FE59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BAF4A0E6-34BE-2519-4297-FA02DDABE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A83C99F3-9B50-484B-F1FC-ED6102E280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0CF0BB6E-3E11-0258-5F4A-CE52ADE7A1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B69FFD24-E6E3-FE24-E4B5-CF9A3D3F8B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42393AA0-79F0-1753-C6FD-EA1D2E5CB6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C505C84D-27D1-B68B-E984-96278D8C74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1EA7852D-850E-C81E-3B54-6D3EF65F6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14FB4DF4-202E-DFD3-E5BA-E0E6A3BC5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068A546F-8C40-7877-EDB7-E6393E819D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11B2FE02-B60B-5CAF-EB8A-0C2785A974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2E51C243-7CFD-C83D-62CF-762546F69B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AEB9BDDD-2360-80C1-C411-116E96F76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6" name="Subtitle 5">
            <a:extLst>
              <a:ext uri="{FF2B5EF4-FFF2-40B4-BE49-F238E27FC236}">
                <a16:creationId xmlns:a16="http://schemas.microsoft.com/office/drawing/2014/main" id="{8E9ED79E-CCF3-4AF6-074E-2AD462409BBD}"/>
              </a:ext>
            </a:extLst>
          </p:cNvPr>
          <p:cNvSpPr>
            <a:spLocks noGrp="1"/>
          </p:cNvSpPr>
          <p:nvPr>
            <p:ph type="subTitle" idx="1"/>
          </p:nvPr>
        </p:nvSpPr>
        <p:spPr>
          <a:xfrm>
            <a:off x="527050" y="924673"/>
            <a:ext cx="4990171" cy="4972693"/>
          </a:xfrm>
          <a:solidFill>
            <a:schemeClr val="bg2"/>
          </a:solidFill>
        </p:spPr>
        <p:txBody>
          <a:bodyPr vert="horz" lIns="91440" tIns="45720" rIns="91440" bIns="45720" rtlCol="0" anchor="ctr">
            <a:noAutofit/>
          </a:bodyPr>
          <a:lstStyle/>
          <a:p>
            <a:pPr lvl="0" algn="l"/>
            <a:r>
              <a:rPr lang="en-US" b="1" dirty="0">
                <a:latin typeface="Times New Roman" panose="02020603050405020304" pitchFamily="18" charset="0"/>
                <a:cs typeface="Times New Roman" panose="02020603050405020304" pitchFamily="18" charset="0"/>
              </a:rPr>
              <a:t>OVERVIEW PAGE</a:t>
            </a:r>
          </a:p>
          <a:p>
            <a:pPr marL="342900" lvl="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hospital has 974 patients, with 27.9K encounters and 47.7K procedures.</a:t>
            </a:r>
          </a:p>
          <a:p>
            <a:pPr marL="342900" lvl="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Ambulatory (12.5K) and outpatient (6.3K) dominate encounter volume, while inpatient has the lowest (1.1K).</a:t>
            </a:r>
          </a:p>
          <a:p>
            <a:pPr marL="342900" lvl="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Inpatient encounters are the costliest ($7.8K each), while outpatient is the cheapest ($2.2K).</a:t>
            </a:r>
          </a:p>
          <a:p>
            <a:pPr marL="342900" lvl="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Uninsured patients account for nearly half of all claim costs ($49M), while Medicare covers the next largest share ($25M).</a:t>
            </a:r>
          </a:p>
          <a:p>
            <a:pPr marL="342900" lvl="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Gender differences appear in encounter classes: female patients drive more outpatient visits.</a:t>
            </a:r>
          </a:p>
        </p:txBody>
      </p:sp>
      <p:pic>
        <p:nvPicPr>
          <p:cNvPr id="3" name="Picture 2">
            <a:extLst>
              <a:ext uri="{FF2B5EF4-FFF2-40B4-BE49-F238E27FC236}">
                <a16:creationId xmlns:a16="http://schemas.microsoft.com/office/drawing/2014/main" id="{BE5E5EB5-AA7F-AE90-E9A8-A93B13DB3D1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839084" y="1360448"/>
            <a:ext cx="6322753" cy="3914813"/>
          </a:xfrm>
          <a:prstGeom prst="rect">
            <a:avLst/>
          </a:prstGeom>
          <a:ln w="12700">
            <a:noFill/>
          </a:ln>
        </p:spPr>
      </p:pic>
    </p:spTree>
    <p:extLst>
      <p:ext uri="{BB962C8B-B14F-4D97-AF65-F5344CB8AC3E}">
        <p14:creationId xmlns:p14="http://schemas.microsoft.com/office/powerpoint/2010/main" val="2537549612"/>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58FE85A-5913-A9E9-F260-B2C747BC8CB3}"/>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6C6A8487-1B97-6065-9B9D-ADDA4F281C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E03116D4-7E60-728A-6320-B390C7BBC5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8A8E51F8-380A-C3E8-E5C0-0146B7AFD5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6C7B4161-0A56-9826-818B-39F63B81D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A1525E8D-E60B-E5E8-6781-0DDB2712D7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0432C522-40C8-283A-70D3-FCF2240899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764587A9-E824-917C-CCBB-DE10E90BBA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E69D89BB-949E-E7CE-3377-53E4A6DF26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7AAD2477-C025-6BE1-5062-34E2DEE792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A787005D-7B6D-0BB4-486B-B0F27233D9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4335DFEC-11B1-649C-B3B0-675593504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DE3D87D4-DE50-4B72-E75F-3523CE9815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E936EB24-8496-96B2-5647-C6C1291A9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21E7243E-ECC5-97B4-3B83-966D6C1765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0A53DE97-25B2-2AB2-D5E6-66632C2090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AE46242F-C801-7F43-57E1-B64509ED9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B7E79724-FA44-15F8-301D-331AE0C391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61285867-D0C4-7ED3-416C-DC0DCCF1C0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20A82D6A-E23E-2F25-0DC0-ACCEC42B51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ADEF71CD-01A6-AEC4-CFFA-D75511FC6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98212D38-C1F4-5D04-BED1-AD15DC684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6A813A1C-30C1-1F47-6D84-61ADB7DEF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EF0E89A6-9411-2582-670F-E55D5B66848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AD0C3DA1-BBB0-7835-988A-B3042F879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32E15DB4-81E8-CC52-7C89-42460DB382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91C95DC6-C3CC-26C1-A8BA-D08D602CD6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4185F6EC-9B80-586D-50D3-F13DE6FF95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86797ECA-C91A-5672-9A36-C45FCC5559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87F87C90-703E-B8B9-095F-805C2BA60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795E793C-8602-8304-E1A1-6E9F5A96A4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E219A39D-4191-4013-F5E8-481CE869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AE174135-414A-D14B-E65F-15B3F44884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F7C662B1-A07A-271E-24DE-5F28268C70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588081EB-18E4-D1C9-888B-E881BA40D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BEB1B0A0-66F8-786A-FDFB-569D907866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6F654859-3C2C-2E8B-C8EA-22597F8C8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2086236B-52CE-25B2-4027-C227B1CA54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EE2C110C-31E8-39F4-BADA-32DDD41F0E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D4B9B127-37CA-3BD1-5EB5-44715CAE39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0479A5D6-61D2-27CD-8C31-A72A9208C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AC13BFCA-A582-C23D-A3F1-AECB2887F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5755FAE4-44C1-9C1D-5AD9-B261F10823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249A1E8B-525A-E4C1-DC67-9E7536889D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F39D0BCA-B5C5-ED37-9026-AEBD873F5F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D6BA2B9D-1A24-69DE-B4FF-D068789CFB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940DFCA4-2264-AABA-200F-DF37FC3963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C95DF9A6-34C8-13E1-1A15-E80DC75268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DE7A787F-009C-1E29-66FF-07ED14B0E9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333A1B1B-93CD-F488-BCC2-AD2A8F8A29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6A2EEFFA-EE27-A9C0-FA1A-41C190399B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C5A169BD-F94B-E5A6-FE0D-1BBD5C35B2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79682C3B-9862-75EF-FC1B-DD1A1B0FF3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2C9612D4-F3E2-B225-A38C-E14CBAC003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6" name="Subtitle 5">
            <a:extLst>
              <a:ext uri="{FF2B5EF4-FFF2-40B4-BE49-F238E27FC236}">
                <a16:creationId xmlns:a16="http://schemas.microsoft.com/office/drawing/2014/main" id="{17CAD47E-6B21-F4B0-6364-FB7C314761AF}"/>
              </a:ext>
            </a:extLst>
          </p:cNvPr>
          <p:cNvSpPr>
            <a:spLocks noGrp="1"/>
          </p:cNvSpPr>
          <p:nvPr>
            <p:ph type="subTitle" idx="1"/>
          </p:nvPr>
        </p:nvSpPr>
        <p:spPr>
          <a:xfrm>
            <a:off x="359597" y="1193178"/>
            <a:ext cx="4654192" cy="4324971"/>
          </a:xfrm>
          <a:solidFill>
            <a:schemeClr val="bg2"/>
          </a:solidFill>
        </p:spPr>
        <p:txBody>
          <a:bodyPr vert="horz" lIns="91440" tIns="45720" rIns="91440" bIns="45720" rtlCol="0" anchor="ctr">
            <a:noAutofit/>
          </a:bodyPr>
          <a:lstStyle/>
          <a:p>
            <a:pPr lvl="0" algn="l"/>
            <a:r>
              <a:rPr lang="en-US" b="1" dirty="0">
                <a:latin typeface="Times New Roman" panose="02020603050405020304" pitchFamily="18" charset="0"/>
                <a:cs typeface="Times New Roman" panose="02020603050405020304" pitchFamily="18" charset="0"/>
              </a:rPr>
              <a:t>PATIENT INSIGHT</a:t>
            </a:r>
          </a:p>
          <a:p>
            <a:pPr marL="342900" lvl="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Elderly patients (80+) dominate with 438 cases, while young adults (18–34) are the smallest group with only 11 cases.</a:t>
            </a:r>
          </a:p>
          <a:p>
            <a:pPr marL="342900" lvl="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patient base is almost evenly split, with 50.7% male and 49.3% female</a:t>
            </a:r>
          </a:p>
          <a:p>
            <a:pPr marL="342900" lvl="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Non-Hispanic patients make up the majority (80.4%), while Hispanic patients account for 19.6%.</a:t>
            </a:r>
          </a:p>
          <a:p>
            <a:pPr marL="342900" lvl="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Boston leads with 541 patients, far higher than Quincy (80) and other smaller cities</a:t>
            </a:r>
            <a:endParaRPr lang="en-US" dirty="0"/>
          </a:p>
        </p:txBody>
      </p:sp>
      <p:pic>
        <p:nvPicPr>
          <p:cNvPr id="2" name="Picture 1">
            <a:extLst>
              <a:ext uri="{FF2B5EF4-FFF2-40B4-BE49-F238E27FC236}">
                <a16:creationId xmlns:a16="http://schemas.microsoft.com/office/drawing/2014/main" id="{568933BD-4E77-2A1E-E5A6-6C638D24F5D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86413" y="1315844"/>
            <a:ext cx="6386509" cy="3959419"/>
          </a:xfrm>
          <a:prstGeom prst="rect">
            <a:avLst/>
          </a:prstGeom>
          <a:ln w="12700">
            <a:noFill/>
          </a:ln>
        </p:spPr>
      </p:pic>
    </p:spTree>
    <p:extLst>
      <p:ext uri="{BB962C8B-B14F-4D97-AF65-F5344CB8AC3E}">
        <p14:creationId xmlns:p14="http://schemas.microsoft.com/office/powerpoint/2010/main" val="1306470217"/>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594AA2B-3A78-C753-C43C-3F6205EF4E96}"/>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D0E34DED-03D7-3637-B5AC-C5DC1A501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B8714CC0-5AB4-E95F-28B8-882F41E677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4EE9F4EB-AF23-F58E-F2DC-D3554D5EAB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1DFAE555-5F72-28B7-53D8-03FB1A7F61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79DA3DFD-8A38-0CB3-6F70-365537DCC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DA8743CE-86D5-ED68-C035-12FDB6217D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8FEE1DB6-F917-3752-4870-D0BDE01FD6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B3CEA02B-3C39-47DB-356E-DDBC785D6F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6B8A3E34-FDED-AE75-1D25-42AF0E7EB1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2569BB10-FBE8-FAE9-50D2-35700C5CB2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994B5F96-1087-C270-C9BE-A059ABF25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03C80A12-7DA3-9A98-BBA3-C4838C94D8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19A4DA0D-74B5-331C-B1A5-70A1989E0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F91FE2FA-9F74-7E87-B0F5-814BD876D2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A49E98B8-37F6-8BB8-3B61-8764DC059D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940515CF-0805-1DF8-2E64-C1299AEE38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B4F4FF7E-ACE0-3F5E-86B8-38298169A3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68F58663-8AF4-E988-53EA-1911C8910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A4BC5A28-E700-B991-9476-B4C952C77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64723EF2-200F-AD49-4D59-52400A292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7BF6A838-6DC4-0ACD-9797-6EDBC3C18D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17009830-201D-56F4-4A71-0CCFD25FC8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67311496-778E-E037-DDF6-50D3726998D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864D2305-9559-0D9B-E904-01D207B09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D8A8FF1F-FC96-2E72-BB72-B2E7CEBCD9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41A434F3-12EC-E634-E5A2-0E60EE78DA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E3353093-2C22-2CD6-2D0D-D012F90E31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ABF327D3-D471-6840-9E22-DA689BCE8F3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B84009AA-1377-2D86-C502-931926D8DE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611A40FC-1E9C-E9E6-CF3E-CE5F2E13E6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C725693B-2D4E-445C-AC88-AFB3A91E90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9545914D-D5F3-79ED-FFE1-5DFD1ED7A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C0015A3F-8C0C-B2F9-F380-0E639F1FB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96F65A66-E27B-D8DE-261E-AC4FE527E8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76D693C8-95CF-CCF9-BBB3-F215AD3A4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D5B3EF2F-76B4-2C17-7A1B-1FE3BB65A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C010D665-379A-C3CE-114A-1093E567E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4F69C30F-E314-AB28-5F11-D0E9F19B49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8907E781-0B89-D141-E4C5-157D25CB10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FDDD0B07-E09A-CF83-6627-0921CDA08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0D916D7E-3628-5ED8-25C0-2DC61E3CC7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18E7DFE2-7B83-21F4-3671-3A145D5234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A07A3D7D-9E84-9A71-38F3-9092AB1DC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021D69A3-DAAC-AB35-9F41-0C876243BC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1D448FE8-E4FE-9580-3272-7FE204868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F35EC1D6-C5AF-F639-96DD-560E4FB7D7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F661DAD6-7D89-E863-5591-A4FF52367F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7C814540-9AFD-52A5-E3A7-EC15ACB53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D4E64174-9D9C-3663-6F76-FCDE1AC9D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5426E708-86F2-8E6F-A024-25E6A5D6D9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5A25C29C-B255-C2B8-A394-643E3A3332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F7BC607F-A2E4-6621-3AEA-FC08197EC6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F41FA903-945E-46E5-EE1B-1285014610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6" name="Subtitle 5">
            <a:extLst>
              <a:ext uri="{FF2B5EF4-FFF2-40B4-BE49-F238E27FC236}">
                <a16:creationId xmlns:a16="http://schemas.microsoft.com/office/drawing/2014/main" id="{C83174F4-1335-373A-3AC7-EF4E79DFCC82}"/>
              </a:ext>
            </a:extLst>
          </p:cNvPr>
          <p:cNvSpPr>
            <a:spLocks noGrp="1"/>
          </p:cNvSpPr>
          <p:nvPr>
            <p:ph type="subTitle" idx="1"/>
          </p:nvPr>
        </p:nvSpPr>
        <p:spPr>
          <a:xfrm>
            <a:off x="257176" y="565151"/>
            <a:ext cx="5040312" cy="5712360"/>
          </a:xfrm>
          <a:solidFill>
            <a:schemeClr val="bg2"/>
          </a:solidFill>
        </p:spPr>
        <p:txBody>
          <a:bodyPr vert="horz" lIns="91440" tIns="45720" rIns="91440" bIns="45720" rtlCol="0" anchor="ctr">
            <a:noAutofit/>
          </a:bodyPr>
          <a:lstStyle/>
          <a:p>
            <a:pPr lvl="0" algn="l"/>
            <a:r>
              <a:rPr lang="en-US" b="1" dirty="0">
                <a:latin typeface="Times New Roman" panose="02020603050405020304" pitchFamily="18" charset="0"/>
                <a:cs typeface="Times New Roman" panose="02020603050405020304" pitchFamily="18" charset="0"/>
              </a:rPr>
              <a:t>CLINICAL ACTIVITY AND COSTS</a:t>
            </a:r>
          </a:p>
          <a:p>
            <a:pPr marL="342900" lvl="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common procedures: assessment of health and social care needs (4.6K), hospice care (regime/therapy): 4.1K, depression screening using patient questionnaire two-item score  (3.6K), substance use assessments (2.9K).</a:t>
            </a:r>
          </a:p>
          <a:p>
            <a:pPr marL="342900" lvl="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expensive procedures: ICU admission ($210K), coronary artery bypass graft ($50K), lumpectomy of breast ($30K).</a:t>
            </a:r>
          </a:p>
          <a:p>
            <a:pPr marL="342900" lvl="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Routine </a:t>
            </a:r>
            <a:r>
              <a:rPr lang="en-US" b="1" dirty="0">
                <a:latin typeface="Times New Roman" panose="02020603050405020304" pitchFamily="18" charset="0"/>
                <a:cs typeface="Times New Roman" panose="02020603050405020304" pitchFamily="18" charset="0"/>
              </a:rPr>
              <a:t>urine screenings</a:t>
            </a:r>
            <a:r>
              <a:rPr lang="en-US" dirty="0">
                <a:latin typeface="Times New Roman" panose="02020603050405020304" pitchFamily="18" charset="0"/>
                <a:cs typeface="Times New Roman" panose="02020603050405020304" pitchFamily="18" charset="0"/>
              </a:rPr>
              <a:t> (118–119 each) and </a:t>
            </a:r>
            <a:r>
              <a:rPr lang="en-US" b="1" dirty="0">
                <a:latin typeface="Times New Roman" panose="02020603050405020304" pitchFamily="18" charset="0"/>
                <a:cs typeface="Times New Roman" panose="02020603050405020304" pitchFamily="18" charset="0"/>
              </a:rPr>
              <a:t>vaccinations (119)</a:t>
            </a:r>
            <a:r>
              <a:rPr lang="en-US" dirty="0">
                <a:latin typeface="Times New Roman" panose="02020603050405020304" pitchFamily="18" charset="0"/>
                <a:cs typeface="Times New Roman" panose="02020603050405020304" pitchFamily="18" charset="0"/>
              </a:rPr>
              <a:t> dominate while X-rays (25) and vasectomies (5) are far less frequent, highlighting the hospital’s tilt toward preventive and diagnostic screenings over surgical or imaging interventions.</a:t>
            </a:r>
          </a:p>
          <a:p>
            <a:pPr marL="342900" lvl="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Female patients account for 95% of procedure volumes, reflecting women’s health services.</a:t>
            </a:r>
          </a:p>
        </p:txBody>
      </p:sp>
      <p:pic>
        <p:nvPicPr>
          <p:cNvPr id="2" name="Picture 1">
            <a:extLst>
              <a:ext uri="{FF2B5EF4-FFF2-40B4-BE49-F238E27FC236}">
                <a16:creationId xmlns:a16="http://schemas.microsoft.com/office/drawing/2014/main" id="{8A84E88F-9F65-AE5C-ED5F-B870203B216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86413" y="1215483"/>
            <a:ext cx="6499224" cy="4207139"/>
          </a:xfrm>
          <a:prstGeom prst="rect">
            <a:avLst/>
          </a:prstGeom>
          <a:ln w="12700">
            <a:noFill/>
          </a:ln>
        </p:spPr>
      </p:pic>
    </p:spTree>
    <p:extLst>
      <p:ext uri="{BB962C8B-B14F-4D97-AF65-F5344CB8AC3E}">
        <p14:creationId xmlns:p14="http://schemas.microsoft.com/office/powerpoint/2010/main" val="4011587937"/>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CEC6886-B232-8745-E97E-4F5BC7793151}"/>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3923E54D-5772-CF3E-A465-7E968828F6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A5E7FA9A-9DEC-4A41-9BDC-91DA610553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E3D2BA71-5A18-FBB4-D727-82369DB6F5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93267C80-314D-B22D-653E-ED3B1488A5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9D3E03A3-DBCE-F7E4-AD22-B6FE22F3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90BF103F-CB46-2525-BF86-6F0AC701A5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DCF77679-3E3E-C4A6-8295-0D8B4E8E5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04CFB809-3C73-BFA0-315D-5EDF6B198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4658A2CA-427D-525E-81E7-CAAB7FC10B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0DB2600A-3539-C02C-8C67-51AB7AB8C8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0773FC92-ED06-A19B-5095-9F006C8AF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BD452B3D-CD57-55F1-9B47-4C0171CDE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C0A809EA-DE9A-59DA-3553-8042A9D06F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C2F6CFA4-B2EB-A08A-434B-84BB8424BB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78953568-E90B-8022-C254-AF314DC136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B1E64BE3-F984-291F-E660-B22FA2D32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028B26E6-46CB-5142-F527-9B1CC025A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A495E49A-13FE-B4BE-6753-CCB4E66903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EF51D9FA-E648-6F6B-FFD2-3706FC24C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D049134B-B2EE-2DF5-1AD2-8AA31CFA3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7C2D8E34-45C6-DE57-D66B-803DEE1FA1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8A166141-D61E-952D-4BE2-1FB4FAE75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41F006BB-4933-A45B-3DD6-616B626A88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6A2C67F2-977A-6DD1-C386-FD54DDE7C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9144ECDD-6DF1-BC09-BCE6-E64CC82284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105F27A5-D264-C03E-BF01-ACB2A40D1A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246239B4-D42D-ABE0-40B6-BA1F03CEEE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D4FAB29A-A996-D0D2-8D7F-BAD6968560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52329C58-B503-F334-A5B9-1E188D7C8E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6E42752E-2729-3276-7D41-50B7811951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33D6E9DE-E359-B357-DBFE-5F0CECAA4A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4CD96D82-3E93-AFBD-CB3B-8725F8409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455B683E-35A9-ACBC-B504-3A42D5C008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F3DA4DE5-1C71-8CBE-4B7D-03AB557194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5BF46F28-F9B5-E606-1779-6DE48BA7AA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C58B8F46-F9A0-E3DD-4E39-0DF16E4A92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DE4B8BE8-09E5-42A4-D019-061E13310E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9403C3B7-56C5-F0E5-CF6B-ED3ACCB830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04B9C990-9EDC-8091-8E8D-C1BBCB3243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122275F3-1AAB-139A-1EEB-D689DF7D9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E688411F-B75D-1426-AF7B-324FF5B1E7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46E57E4E-F031-E16D-D3AD-610D6754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9CE209F6-882E-04C6-638E-D43BCD65B5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551698DE-D5C1-1C3F-ABCC-ABD6F8D470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063E1494-356D-2E98-F6EA-3FD0C1E7BB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346C1AEF-ADE6-EB4B-DDB9-2B5CFB4582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66C3C8A4-0981-0E8B-2F5D-AACA1C8CB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38ABFCCA-F46B-113B-05A0-9DC5BC73A3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B34AD5A1-A461-E7A0-2B62-16E61BA9D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71E2D40C-E4FC-C37F-5212-E08E72FE81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180C9F5C-8C88-26D1-0F92-47791BADE8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69F7CC50-B1D4-A6ED-1F59-08C14415A9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F8F5E00C-4F1F-0070-E8F9-7466D67CE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8B55A8F8-BB12-2B52-9D68-067FEFF03456}"/>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RECOMMENDATION</a:t>
            </a:r>
            <a:br>
              <a:rPr lang="en-US" sz="3200" b="1"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sp>
        <p:nvSpPr>
          <p:cNvPr id="6" name="Subtitle 5">
            <a:extLst>
              <a:ext uri="{FF2B5EF4-FFF2-40B4-BE49-F238E27FC236}">
                <a16:creationId xmlns:a16="http://schemas.microsoft.com/office/drawing/2014/main" id="{BA0AE7C0-725F-5426-0D5A-A64666197D9C}"/>
              </a:ext>
            </a:extLst>
          </p:cNvPr>
          <p:cNvSpPr>
            <a:spLocks noGrp="1"/>
          </p:cNvSpPr>
          <p:nvPr>
            <p:ph type="subTitle" idx="1"/>
          </p:nvPr>
        </p:nvSpPr>
        <p:spPr>
          <a:xfrm>
            <a:off x="4722271" y="133563"/>
            <a:ext cx="7253830" cy="6585735"/>
          </a:xfrm>
          <a:solidFill>
            <a:schemeClr val="bg2"/>
          </a:solidFill>
        </p:spPr>
        <p:txBody>
          <a:bodyPr vert="horz" lIns="91440" tIns="45720" rIns="91440" bIns="45720" rtlCol="0" anchor="ctr">
            <a:noAutofit/>
          </a:bodyPr>
          <a:lstStyle/>
          <a:p>
            <a:pPr marL="114300" algn="l">
              <a:lnSpc>
                <a:spcPct val="120000"/>
              </a:lnSpc>
            </a:pPr>
            <a:r>
              <a:rPr lang="en-US" b="1" dirty="0">
                <a:solidFill>
                  <a:schemeClr val="tx1"/>
                </a:solidFill>
                <a:latin typeface="Times New Roman" panose="02020603050405020304" pitchFamily="18" charset="0"/>
                <a:cs typeface="Times New Roman" panose="02020603050405020304" pitchFamily="18" charset="0"/>
              </a:rPr>
              <a:t>Financial Risk Management</a:t>
            </a:r>
          </a:p>
          <a:p>
            <a:pPr marL="457200" indent="-342900" algn="l">
              <a:lnSpc>
                <a:spcPct val="12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Encourage uninsured patients to enroll in coverage programs to reduce their out-of-pocket burden and strengthen hospital revenue stability.</a:t>
            </a:r>
          </a:p>
          <a:p>
            <a:pPr marL="114300" algn="l">
              <a:lnSpc>
                <a:spcPct val="120000"/>
              </a:lnSpc>
            </a:pPr>
            <a:r>
              <a:rPr lang="en-US" b="1" dirty="0">
                <a:solidFill>
                  <a:schemeClr val="tx1"/>
                </a:solidFill>
                <a:latin typeface="Times New Roman" panose="02020603050405020304" pitchFamily="18" charset="0"/>
                <a:cs typeface="Times New Roman" panose="02020603050405020304" pitchFamily="18" charset="0"/>
              </a:rPr>
              <a:t>Geriatric and Chronic Care Programs</a:t>
            </a:r>
          </a:p>
          <a:p>
            <a:pPr marL="457200" indent="-342900" algn="l">
              <a:lnSpc>
                <a:spcPct val="12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Expand dedicated services for seniors and elderly patients (65+), who represent most of the patient base.</a:t>
            </a:r>
          </a:p>
          <a:p>
            <a:pPr marL="114300" algn="l">
              <a:lnSpc>
                <a:spcPct val="120000"/>
              </a:lnSpc>
            </a:pPr>
            <a:r>
              <a:rPr lang="en-US" b="1" dirty="0">
                <a:solidFill>
                  <a:schemeClr val="tx1"/>
                </a:solidFill>
                <a:latin typeface="Times New Roman" panose="02020603050405020304" pitchFamily="18" charset="0"/>
                <a:cs typeface="Times New Roman" panose="02020603050405020304" pitchFamily="18" charset="0"/>
              </a:rPr>
              <a:t>Preventive and Mental Health Services</a:t>
            </a:r>
          </a:p>
          <a:p>
            <a:pPr marL="457200" indent="-342900" algn="l">
              <a:lnSpc>
                <a:spcPct val="12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Scale up existing screening programs (depression, substance use, wellness checks) since they are high in volume and relatively low in cost.</a:t>
            </a:r>
          </a:p>
          <a:p>
            <a:pPr marL="114300" algn="l">
              <a:lnSpc>
                <a:spcPct val="120000"/>
              </a:lnSpc>
            </a:pPr>
            <a:r>
              <a:rPr lang="en-US" b="1" dirty="0">
                <a:solidFill>
                  <a:schemeClr val="tx1"/>
                </a:solidFill>
                <a:latin typeface="Times New Roman" panose="02020603050405020304" pitchFamily="18" charset="0"/>
                <a:cs typeface="Times New Roman" panose="02020603050405020304" pitchFamily="18" charset="0"/>
              </a:rPr>
              <a:t>Geographic Outreach &amp; Service Balance</a:t>
            </a:r>
          </a:p>
          <a:p>
            <a:pPr marL="457200" indent="-342900" algn="l">
              <a:lnSpc>
                <a:spcPct val="12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Patient volume is heavily concentrated in Boston; consider outreach clinics or partnerships in smaller cities (Quincy, Cambridge, Revere) to balance access.</a:t>
            </a:r>
          </a:p>
          <a:p>
            <a:pPr marL="114300" algn="l">
              <a:lnSpc>
                <a:spcPct val="120000"/>
              </a:lnSpc>
            </a:pPr>
            <a:r>
              <a:rPr lang="en-US" b="1" dirty="0">
                <a:solidFill>
                  <a:schemeClr val="tx1"/>
                </a:solidFill>
                <a:latin typeface="Times New Roman" panose="02020603050405020304" pitchFamily="18" charset="0"/>
                <a:cs typeface="Times New Roman" panose="02020603050405020304" pitchFamily="18" charset="0"/>
              </a:rPr>
              <a:t>Data-Driven Operations</a:t>
            </a:r>
          </a:p>
          <a:p>
            <a:pPr marL="457200" indent="-342900" algn="l">
              <a:lnSpc>
                <a:spcPct val="12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Standardize reporting so leaders can monitor cost per encounter, procedure efficiency, and payer coverage in real-time.</a:t>
            </a:r>
          </a:p>
        </p:txBody>
      </p:sp>
    </p:spTree>
    <p:extLst>
      <p:ext uri="{BB962C8B-B14F-4D97-AF65-F5344CB8AC3E}">
        <p14:creationId xmlns:p14="http://schemas.microsoft.com/office/powerpoint/2010/main" val="934846744"/>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660E39E-80AE-EF5F-4E46-2BA2E68C0689}"/>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7C20CF5B-375C-D36F-B768-EAF55907D3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00" name="Freeform 5">
              <a:extLst>
                <a:ext uri="{FF2B5EF4-FFF2-40B4-BE49-F238E27FC236}">
                  <a16:creationId xmlns:a16="http://schemas.microsoft.com/office/drawing/2014/main" id="{AAD33012-BAE4-D96E-57BC-893AA72E24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6">
              <a:extLst>
                <a:ext uri="{FF2B5EF4-FFF2-40B4-BE49-F238E27FC236}">
                  <a16:creationId xmlns:a16="http://schemas.microsoft.com/office/drawing/2014/main" id="{E3D96DE1-33FD-78F4-D591-38009861B1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7">
              <a:extLst>
                <a:ext uri="{FF2B5EF4-FFF2-40B4-BE49-F238E27FC236}">
                  <a16:creationId xmlns:a16="http://schemas.microsoft.com/office/drawing/2014/main" id="{1B54F055-64F8-FC00-CBD4-41A9D343E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8">
              <a:extLst>
                <a:ext uri="{FF2B5EF4-FFF2-40B4-BE49-F238E27FC236}">
                  <a16:creationId xmlns:a16="http://schemas.microsoft.com/office/drawing/2014/main" id="{36689B41-982E-ECC4-FE28-C831E32AB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9">
              <a:extLst>
                <a:ext uri="{FF2B5EF4-FFF2-40B4-BE49-F238E27FC236}">
                  <a16:creationId xmlns:a16="http://schemas.microsoft.com/office/drawing/2014/main" id="{EA26400E-BEE3-A23C-180F-D58B4A1BC2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10">
              <a:extLst>
                <a:ext uri="{FF2B5EF4-FFF2-40B4-BE49-F238E27FC236}">
                  <a16:creationId xmlns:a16="http://schemas.microsoft.com/office/drawing/2014/main" id="{D3E77DB0-9F61-D05D-41B5-27689949DE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11">
              <a:extLst>
                <a:ext uri="{FF2B5EF4-FFF2-40B4-BE49-F238E27FC236}">
                  <a16:creationId xmlns:a16="http://schemas.microsoft.com/office/drawing/2014/main" id="{C2F4BDF9-205F-5F9C-98D4-9A83915246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12">
              <a:extLst>
                <a:ext uri="{FF2B5EF4-FFF2-40B4-BE49-F238E27FC236}">
                  <a16:creationId xmlns:a16="http://schemas.microsoft.com/office/drawing/2014/main" id="{0A9F9185-A8F7-4BF5-7211-99EADE844E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13">
              <a:extLst>
                <a:ext uri="{FF2B5EF4-FFF2-40B4-BE49-F238E27FC236}">
                  <a16:creationId xmlns:a16="http://schemas.microsoft.com/office/drawing/2014/main" id="{A5F8DF2A-E25D-44D1-E334-D7B50B556B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14">
              <a:extLst>
                <a:ext uri="{FF2B5EF4-FFF2-40B4-BE49-F238E27FC236}">
                  <a16:creationId xmlns:a16="http://schemas.microsoft.com/office/drawing/2014/main" id="{BFF04E4F-5C73-5415-415F-052C8C72B7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Freeform 15">
              <a:extLst>
                <a:ext uri="{FF2B5EF4-FFF2-40B4-BE49-F238E27FC236}">
                  <a16:creationId xmlns:a16="http://schemas.microsoft.com/office/drawing/2014/main" id="{C3B3C461-9D48-F356-EF34-D3A090953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 name="Freeform 16">
              <a:extLst>
                <a:ext uri="{FF2B5EF4-FFF2-40B4-BE49-F238E27FC236}">
                  <a16:creationId xmlns:a16="http://schemas.microsoft.com/office/drawing/2014/main" id="{D5D3CD9D-CC59-5180-29AE-27924B9590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7">
              <a:extLst>
                <a:ext uri="{FF2B5EF4-FFF2-40B4-BE49-F238E27FC236}">
                  <a16:creationId xmlns:a16="http://schemas.microsoft.com/office/drawing/2014/main" id="{EB7B0ADD-F64F-EF0A-B616-034A83C64E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8">
              <a:extLst>
                <a:ext uri="{FF2B5EF4-FFF2-40B4-BE49-F238E27FC236}">
                  <a16:creationId xmlns:a16="http://schemas.microsoft.com/office/drawing/2014/main" id="{EED28A27-D3DC-1F96-55DF-B2D0016FA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9">
              <a:extLst>
                <a:ext uri="{FF2B5EF4-FFF2-40B4-BE49-F238E27FC236}">
                  <a16:creationId xmlns:a16="http://schemas.microsoft.com/office/drawing/2014/main" id="{B629A9FB-6095-752E-81E0-75438EED9F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20">
              <a:extLst>
                <a:ext uri="{FF2B5EF4-FFF2-40B4-BE49-F238E27FC236}">
                  <a16:creationId xmlns:a16="http://schemas.microsoft.com/office/drawing/2014/main" id="{24530602-4381-74C9-B9A2-71DD474917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21">
              <a:extLst>
                <a:ext uri="{FF2B5EF4-FFF2-40B4-BE49-F238E27FC236}">
                  <a16:creationId xmlns:a16="http://schemas.microsoft.com/office/drawing/2014/main" id="{1186E21D-6491-6340-F88B-B80595621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22">
              <a:extLst>
                <a:ext uri="{FF2B5EF4-FFF2-40B4-BE49-F238E27FC236}">
                  <a16:creationId xmlns:a16="http://schemas.microsoft.com/office/drawing/2014/main" id="{9B14FB87-F80B-3682-A74C-FC81EF0697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23">
              <a:extLst>
                <a:ext uri="{FF2B5EF4-FFF2-40B4-BE49-F238E27FC236}">
                  <a16:creationId xmlns:a16="http://schemas.microsoft.com/office/drawing/2014/main" id="{6F7C5920-2F0A-9475-F3D5-E302FCEA2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24">
              <a:extLst>
                <a:ext uri="{FF2B5EF4-FFF2-40B4-BE49-F238E27FC236}">
                  <a16:creationId xmlns:a16="http://schemas.microsoft.com/office/drawing/2014/main" id="{8480BB69-2D71-2261-3C34-9B937A48FA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25">
              <a:extLst>
                <a:ext uri="{FF2B5EF4-FFF2-40B4-BE49-F238E27FC236}">
                  <a16:creationId xmlns:a16="http://schemas.microsoft.com/office/drawing/2014/main" id="{766714FA-919A-8CF2-3B9B-1026E30C8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2" name="Group 121">
            <a:extLst>
              <a:ext uri="{FF2B5EF4-FFF2-40B4-BE49-F238E27FC236}">
                <a16:creationId xmlns:a16="http://schemas.microsoft.com/office/drawing/2014/main" id="{7AF539A3-75B7-107A-095C-178B84C092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23" name="Rectangle 122">
              <a:extLst>
                <a:ext uri="{FF2B5EF4-FFF2-40B4-BE49-F238E27FC236}">
                  <a16:creationId xmlns:a16="http://schemas.microsoft.com/office/drawing/2014/main" id="{043B1B20-BC6F-14DF-D263-613A4B10F3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4" name="Isosceles Triangle 22">
              <a:extLst>
                <a:ext uri="{FF2B5EF4-FFF2-40B4-BE49-F238E27FC236}">
                  <a16:creationId xmlns:a16="http://schemas.microsoft.com/office/drawing/2014/main" id="{10413221-432B-D20D-17AE-838A7430B6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5" name="Rectangle 124">
              <a:extLst>
                <a:ext uri="{FF2B5EF4-FFF2-40B4-BE49-F238E27FC236}">
                  <a16:creationId xmlns:a16="http://schemas.microsoft.com/office/drawing/2014/main" id="{37B4CFE5-8663-9ACF-3337-E18DE8A8E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27" name="Rectangle 126">
            <a:extLst>
              <a:ext uri="{FF2B5EF4-FFF2-40B4-BE49-F238E27FC236}">
                <a16:creationId xmlns:a16="http://schemas.microsoft.com/office/drawing/2014/main" id="{EA76C22C-95FA-4702-ED0D-524E68CAB8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3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D01C3B2D-93C2-C00E-1F79-84142B51AD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0" name="Freeform 5">
              <a:extLst>
                <a:ext uri="{FF2B5EF4-FFF2-40B4-BE49-F238E27FC236}">
                  <a16:creationId xmlns:a16="http://schemas.microsoft.com/office/drawing/2014/main" id="{41B9D9B8-7D6C-63DA-8A76-B8A5F99269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 name="Freeform 6">
              <a:extLst>
                <a:ext uri="{FF2B5EF4-FFF2-40B4-BE49-F238E27FC236}">
                  <a16:creationId xmlns:a16="http://schemas.microsoft.com/office/drawing/2014/main" id="{4D4D20ED-D36C-98C4-86D4-C461FF1E80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2" name="Freeform 7">
              <a:extLst>
                <a:ext uri="{FF2B5EF4-FFF2-40B4-BE49-F238E27FC236}">
                  <a16:creationId xmlns:a16="http://schemas.microsoft.com/office/drawing/2014/main" id="{68ECCFAB-1908-0409-8B93-342CEAD61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 name="Freeform 8">
              <a:extLst>
                <a:ext uri="{FF2B5EF4-FFF2-40B4-BE49-F238E27FC236}">
                  <a16:creationId xmlns:a16="http://schemas.microsoft.com/office/drawing/2014/main" id="{A89F472A-5386-5D10-3136-B4150CE8B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4" name="Freeform 9">
              <a:extLst>
                <a:ext uri="{FF2B5EF4-FFF2-40B4-BE49-F238E27FC236}">
                  <a16:creationId xmlns:a16="http://schemas.microsoft.com/office/drawing/2014/main" id="{42630A36-0ACF-F538-9E95-F9E6872A4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5" name="Freeform 10">
              <a:extLst>
                <a:ext uri="{FF2B5EF4-FFF2-40B4-BE49-F238E27FC236}">
                  <a16:creationId xmlns:a16="http://schemas.microsoft.com/office/drawing/2014/main" id="{6A17FEEC-F458-C4B7-709E-6C076390A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6" name="Freeform 11">
              <a:extLst>
                <a:ext uri="{FF2B5EF4-FFF2-40B4-BE49-F238E27FC236}">
                  <a16:creationId xmlns:a16="http://schemas.microsoft.com/office/drawing/2014/main" id="{EEE2F33F-E4F5-E113-9C85-298344BEF6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 name="Freeform 12">
              <a:extLst>
                <a:ext uri="{FF2B5EF4-FFF2-40B4-BE49-F238E27FC236}">
                  <a16:creationId xmlns:a16="http://schemas.microsoft.com/office/drawing/2014/main" id="{16C5ED55-FE40-9CB0-B342-7077023F27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8" name="Freeform 13">
              <a:extLst>
                <a:ext uri="{FF2B5EF4-FFF2-40B4-BE49-F238E27FC236}">
                  <a16:creationId xmlns:a16="http://schemas.microsoft.com/office/drawing/2014/main" id="{F46639CE-C867-4AAE-394A-79A53E1E32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9" name="Freeform 14">
              <a:extLst>
                <a:ext uri="{FF2B5EF4-FFF2-40B4-BE49-F238E27FC236}">
                  <a16:creationId xmlns:a16="http://schemas.microsoft.com/office/drawing/2014/main" id="{B77A114A-020E-F8A9-CEF1-E9B5C3F0A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 name="Freeform 15">
              <a:extLst>
                <a:ext uri="{FF2B5EF4-FFF2-40B4-BE49-F238E27FC236}">
                  <a16:creationId xmlns:a16="http://schemas.microsoft.com/office/drawing/2014/main" id="{D6C583CD-A579-226A-A0DE-859A538A5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 name="Freeform 16">
              <a:extLst>
                <a:ext uri="{FF2B5EF4-FFF2-40B4-BE49-F238E27FC236}">
                  <a16:creationId xmlns:a16="http://schemas.microsoft.com/office/drawing/2014/main" id="{0C66B897-7B58-10DC-CA62-208C1865A0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 name="Freeform 17">
              <a:extLst>
                <a:ext uri="{FF2B5EF4-FFF2-40B4-BE49-F238E27FC236}">
                  <a16:creationId xmlns:a16="http://schemas.microsoft.com/office/drawing/2014/main" id="{F26FBF4F-BDE0-5649-EEF8-5869E2F34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 name="Freeform 18">
              <a:extLst>
                <a:ext uri="{FF2B5EF4-FFF2-40B4-BE49-F238E27FC236}">
                  <a16:creationId xmlns:a16="http://schemas.microsoft.com/office/drawing/2014/main" id="{DAFA2739-901A-5A0C-5AE4-A5CB6B676E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4" name="Freeform 19">
              <a:extLst>
                <a:ext uri="{FF2B5EF4-FFF2-40B4-BE49-F238E27FC236}">
                  <a16:creationId xmlns:a16="http://schemas.microsoft.com/office/drawing/2014/main" id="{F19FBB87-46D3-0DF3-7F30-CC1C2D3FA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Freeform 20">
              <a:extLst>
                <a:ext uri="{FF2B5EF4-FFF2-40B4-BE49-F238E27FC236}">
                  <a16:creationId xmlns:a16="http://schemas.microsoft.com/office/drawing/2014/main" id="{0D59F40F-5E16-DA58-8266-0A65D6FF3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 name="Freeform 21">
              <a:extLst>
                <a:ext uri="{FF2B5EF4-FFF2-40B4-BE49-F238E27FC236}">
                  <a16:creationId xmlns:a16="http://schemas.microsoft.com/office/drawing/2014/main" id="{33034A6A-1ACF-0315-0A94-71C7383B08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 name="Freeform 22">
              <a:extLst>
                <a:ext uri="{FF2B5EF4-FFF2-40B4-BE49-F238E27FC236}">
                  <a16:creationId xmlns:a16="http://schemas.microsoft.com/office/drawing/2014/main" id="{B3868407-242D-1700-BB24-C6A6EBE03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8" name="Freeform 23">
              <a:extLst>
                <a:ext uri="{FF2B5EF4-FFF2-40B4-BE49-F238E27FC236}">
                  <a16:creationId xmlns:a16="http://schemas.microsoft.com/office/drawing/2014/main" id="{7D7E4135-95D9-F079-F6DC-3411EECD13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9" name="Freeform 24">
              <a:extLst>
                <a:ext uri="{FF2B5EF4-FFF2-40B4-BE49-F238E27FC236}">
                  <a16:creationId xmlns:a16="http://schemas.microsoft.com/office/drawing/2014/main" id="{549334DA-0758-4748-19D4-14CC7F3FF0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 name="Freeform 25">
              <a:extLst>
                <a:ext uri="{FF2B5EF4-FFF2-40B4-BE49-F238E27FC236}">
                  <a16:creationId xmlns:a16="http://schemas.microsoft.com/office/drawing/2014/main" id="{E6ADAE2D-AFC0-212E-8F28-80500C068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151">
            <a:extLst>
              <a:ext uri="{FF2B5EF4-FFF2-40B4-BE49-F238E27FC236}">
                <a16:creationId xmlns:a16="http://schemas.microsoft.com/office/drawing/2014/main" id="{EC255944-82A7-649E-887E-FA94235B33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53" name="Rectangle 152">
              <a:extLst>
                <a:ext uri="{FF2B5EF4-FFF2-40B4-BE49-F238E27FC236}">
                  <a16:creationId xmlns:a16="http://schemas.microsoft.com/office/drawing/2014/main" id="{C5E31904-6501-1E80-0A15-908294ADD4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54" name="Isosceles Triangle 22">
              <a:extLst>
                <a:ext uri="{FF2B5EF4-FFF2-40B4-BE49-F238E27FC236}">
                  <a16:creationId xmlns:a16="http://schemas.microsoft.com/office/drawing/2014/main" id="{65CB2FFD-1C99-A0A6-7529-FE19D9ABFD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5" name="Rectangle 154">
              <a:extLst>
                <a:ext uri="{FF2B5EF4-FFF2-40B4-BE49-F238E27FC236}">
                  <a16:creationId xmlns:a16="http://schemas.microsoft.com/office/drawing/2014/main" id="{FA7F5C4C-0A95-B53B-7D31-3852FC938A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5" name="Title 4">
            <a:extLst>
              <a:ext uri="{FF2B5EF4-FFF2-40B4-BE49-F238E27FC236}">
                <a16:creationId xmlns:a16="http://schemas.microsoft.com/office/drawing/2014/main" id="{BF317ACB-D8CC-69F2-9AC0-97B85F443BB2}"/>
              </a:ext>
            </a:extLst>
          </p:cNvPr>
          <p:cNvSpPr>
            <a:spLocks noGrp="1"/>
          </p:cNvSpPr>
          <p:nvPr>
            <p:ph type="ctrTitle"/>
          </p:nvPr>
        </p:nvSpPr>
        <p:spPr>
          <a:xfrm>
            <a:off x="888631" y="2349925"/>
            <a:ext cx="3498979" cy="2456442"/>
          </a:xfrm>
        </p:spPr>
        <p:txBody>
          <a:bodyPr vert="horz" lIns="228600" tIns="228600" rIns="228600" bIns="228600" rtlCol="0" anchor="ctr">
            <a:normAutofit/>
          </a:bodyPr>
          <a:lstStyle/>
          <a:p>
            <a:pPr>
              <a:lnSpc>
                <a:spcPct val="85000"/>
              </a:lnSpc>
            </a:pPr>
            <a:r>
              <a:rPr lang="en-US" sz="2400" b="1" dirty="0">
                <a:latin typeface="Times New Roman" panose="02020603050405020304" pitchFamily="18" charset="0"/>
                <a:cs typeface="Times New Roman" panose="02020603050405020304" pitchFamily="18" charset="0"/>
              </a:rPr>
              <a:t>CONCLUSION</a:t>
            </a:r>
          </a:p>
        </p:txBody>
      </p:sp>
      <p:sp>
        <p:nvSpPr>
          <p:cNvPr id="6" name="Subtitle 5">
            <a:extLst>
              <a:ext uri="{FF2B5EF4-FFF2-40B4-BE49-F238E27FC236}">
                <a16:creationId xmlns:a16="http://schemas.microsoft.com/office/drawing/2014/main" id="{1A64CA15-4DAE-037A-43B6-572A1881AF5A}"/>
              </a:ext>
            </a:extLst>
          </p:cNvPr>
          <p:cNvSpPr>
            <a:spLocks noGrp="1"/>
          </p:cNvSpPr>
          <p:nvPr>
            <p:ph type="subTitle" idx="1"/>
          </p:nvPr>
        </p:nvSpPr>
        <p:spPr>
          <a:xfrm>
            <a:off x="5168901" y="1699589"/>
            <a:ext cx="6332537" cy="2430623"/>
          </a:xfrm>
          <a:solidFill>
            <a:schemeClr val="bg2"/>
          </a:solidFill>
        </p:spPr>
        <p:txBody>
          <a:bodyPr vert="horz" lIns="91440" tIns="45720" rIns="91440" bIns="45720" rtlCol="0" anchor="ctr">
            <a:noAutofit/>
          </a:bodyPr>
          <a:lstStyle/>
          <a:p>
            <a:pPr marL="114300" algn="l">
              <a:lnSpc>
                <a:spcPct val="120000"/>
              </a:lnSpc>
            </a:pPr>
            <a:r>
              <a:rPr lang="en-US" dirty="0">
                <a:solidFill>
                  <a:schemeClr val="tx1"/>
                </a:solidFill>
                <a:latin typeface="Times New Roman" panose="02020603050405020304" pitchFamily="18" charset="0"/>
                <a:cs typeface="Times New Roman" panose="02020603050405020304" pitchFamily="18" charset="0"/>
              </a:rPr>
              <a:t>With better financial risk management, stronger elderly and preventive care, and targeted outreach, the hospital can improve patient outcomes, optimize costs, and achieve long-term operational stability.</a:t>
            </a:r>
          </a:p>
          <a:p>
            <a:pPr marL="114300" algn="l">
              <a:lnSpc>
                <a:spcPct val="120000"/>
              </a:lnSpc>
            </a:pP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1514967"/>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AD84973-D24B-1AB9-9B51-3A489D4BD843}"/>
            </a:ext>
          </a:extLst>
        </p:cNvPr>
        <p:cNvGrpSpPr/>
        <p:nvPr/>
      </p:nvGrpSpPr>
      <p:grpSpPr>
        <a:xfrm>
          <a:off x="0" y="0"/>
          <a:ext cx="0" cy="0"/>
          <a:chOff x="0" y="0"/>
          <a:chExt cx="0" cy="0"/>
        </a:xfrm>
      </p:grpSpPr>
      <p:sp useBgFill="1">
        <p:nvSpPr>
          <p:cNvPr id="69" name="Rectangle 68">
            <a:extLst>
              <a:ext uri="{FF2B5EF4-FFF2-40B4-BE49-F238E27FC236}">
                <a16:creationId xmlns:a16="http://schemas.microsoft.com/office/drawing/2014/main" id="{10CE3618-1D7A-4256-B2AF-9DB692996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24" y="6419"/>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a:extLst>
              <a:ext uri="{FF2B5EF4-FFF2-40B4-BE49-F238E27FC236}">
                <a16:creationId xmlns:a16="http://schemas.microsoft.com/office/drawing/2014/main" id="{D91A9185-A7D5-460B-98BC-0BF2EBD3EE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a:noFill/>
        </p:grpSpPr>
        <p:sp>
          <p:nvSpPr>
            <p:cNvPr id="72" name="Freeform 5">
              <a:extLst>
                <a:ext uri="{FF2B5EF4-FFF2-40B4-BE49-F238E27FC236}">
                  <a16:creationId xmlns:a16="http://schemas.microsoft.com/office/drawing/2014/main" id="{8AFC1764-6516-4F77-BF30-B8ADB3C9F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17000"/>
                </a:schemeClr>
              </a:solidFill>
              <a:prstDash val="solid"/>
              <a:miter lim="800000"/>
              <a:headEnd/>
              <a:tailEnd/>
            </a:ln>
          </p:spPr>
          <p:txBody>
            <a:bodyPr/>
            <a:lstStyle/>
            <a:p>
              <a:endParaRPr lang="en-US"/>
            </a:p>
          </p:txBody>
        </p:sp>
        <p:sp>
          <p:nvSpPr>
            <p:cNvPr id="73" name="Freeform 6">
              <a:extLst>
                <a:ext uri="{FF2B5EF4-FFF2-40B4-BE49-F238E27FC236}">
                  <a16:creationId xmlns:a16="http://schemas.microsoft.com/office/drawing/2014/main" id="{FCAFF9F9-F806-47EC-BCAC-9921E719F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p:spPr>
          <p:txBody>
            <a:bodyPr/>
            <a:lstStyle/>
            <a:p>
              <a:endParaRPr lang="en-US"/>
            </a:p>
          </p:txBody>
        </p:sp>
        <p:sp>
          <p:nvSpPr>
            <p:cNvPr id="74" name="Freeform 7">
              <a:extLst>
                <a:ext uri="{FF2B5EF4-FFF2-40B4-BE49-F238E27FC236}">
                  <a16:creationId xmlns:a16="http://schemas.microsoft.com/office/drawing/2014/main" id="{09D92491-36BD-4861-BA54-DD88E60898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18000"/>
                </a:schemeClr>
              </a:solidFill>
              <a:prstDash val="dash"/>
              <a:miter lim="800000"/>
              <a:headEnd/>
              <a:tailEnd/>
            </a:ln>
          </p:spPr>
          <p:txBody>
            <a:bodyPr/>
            <a:lstStyle/>
            <a:p>
              <a:endParaRPr lang="en-US"/>
            </a:p>
          </p:txBody>
        </p:sp>
        <p:sp>
          <p:nvSpPr>
            <p:cNvPr id="75" name="Freeform 8">
              <a:extLst>
                <a:ext uri="{FF2B5EF4-FFF2-40B4-BE49-F238E27FC236}">
                  <a16:creationId xmlns:a16="http://schemas.microsoft.com/office/drawing/2014/main" id="{23740E15-AB86-4E5C-A137-07E0DDC03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15000"/>
                </a:schemeClr>
              </a:solidFill>
              <a:prstDash val="solid"/>
              <a:miter lim="800000"/>
              <a:headEnd/>
              <a:tailEnd/>
            </a:ln>
          </p:spPr>
          <p:txBody>
            <a:bodyPr/>
            <a:lstStyle/>
            <a:p>
              <a:endParaRPr lang="en-US"/>
            </a:p>
          </p:txBody>
        </p:sp>
        <p:sp>
          <p:nvSpPr>
            <p:cNvPr id="76" name="Freeform 9">
              <a:extLst>
                <a:ext uri="{FF2B5EF4-FFF2-40B4-BE49-F238E27FC236}">
                  <a16:creationId xmlns:a16="http://schemas.microsoft.com/office/drawing/2014/main" id="{BE097852-1F54-4EF0-A1BE-561272FCD6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15000"/>
                </a:schemeClr>
              </a:solidFill>
              <a:prstDash val="solid"/>
              <a:miter lim="800000"/>
              <a:headEnd/>
              <a:tailEnd/>
            </a:ln>
          </p:spPr>
          <p:txBody>
            <a:bodyPr/>
            <a:lstStyle/>
            <a:p>
              <a:endParaRPr lang="en-US"/>
            </a:p>
          </p:txBody>
        </p:sp>
        <p:sp>
          <p:nvSpPr>
            <p:cNvPr id="77" name="Freeform 10">
              <a:extLst>
                <a:ext uri="{FF2B5EF4-FFF2-40B4-BE49-F238E27FC236}">
                  <a16:creationId xmlns:a16="http://schemas.microsoft.com/office/drawing/2014/main" id="{5C2DF1F9-21CC-430E-84C8-356C73C6F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14000"/>
                </a:schemeClr>
              </a:solidFill>
              <a:prstDash val="solid"/>
              <a:miter lim="800000"/>
              <a:headEnd/>
              <a:tailEnd/>
            </a:ln>
          </p:spPr>
          <p:txBody>
            <a:bodyPr/>
            <a:lstStyle/>
            <a:p>
              <a:endParaRPr lang="en-US"/>
            </a:p>
          </p:txBody>
        </p:sp>
        <p:sp>
          <p:nvSpPr>
            <p:cNvPr id="78" name="Freeform 11">
              <a:extLst>
                <a:ext uri="{FF2B5EF4-FFF2-40B4-BE49-F238E27FC236}">
                  <a16:creationId xmlns:a16="http://schemas.microsoft.com/office/drawing/2014/main" id="{7F11B45B-3EDE-4B6A-903B-0AE6E9DD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13000"/>
                </a:schemeClr>
              </a:solidFill>
              <a:prstDash val="solid"/>
              <a:miter lim="800000"/>
              <a:headEnd/>
              <a:tailEnd/>
            </a:ln>
          </p:spPr>
          <p:txBody>
            <a:bodyPr/>
            <a:lstStyle/>
            <a:p>
              <a:endParaRPr lang="en-US"/>
            </a:p>
          </p:txBody>
        </p:sp>
        <p:sp>
          <p:nvSpPr>
            <p:cNvPr id="79" name="Freeform 12">
              <a:extLst>
                <a:ext uri="{FF2B5EF4-FFF2-40B4-BE49-F238E27FC236}">
                  <a16:creationId xmlns:a16="http://schemas.microsoft.com/office/drawing/2014/main" id="{F77FDDC5-477E-420D-B98F-42ABA24772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13000"/>
                </a:schemeClr>
              </a:solidFill>
              <a:prstDash val="solid"/>
              <a:miter lim="800000"/>
              <a:headEnd/>
              <a:tailEnd/>
            </a:ln>
          </p:spPr>
          <p:txBody>
            <a:bodyPr/>
            <a:lstStyle/>
            <a:p>
              <a:endParaRPr lang="en-US"/>
            </a:p>
          </p:txBody>
        </p:sp>
        <p:sp>
          <p:nvSpPr>
            <p:cNvPr id="80" name="Freeform 13">
              <a:extLst>
                <a:ext uri="{FF2B5EF4-FFF2-40B4-BE49-F238E27FC236}">
                  <a16:creationId xmlns:a16="http://schemas.microsoft.com/office/drawing/2014/main" id="{A92C0474-B573-45C5-84C5-194CE1715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12000"/>
                </a:schemeClr>
              </a:solidFill>
              <a:prstDash val="dash"/>
              <a:miter lim="800000"/>
              <a:headEnd/>
              <a:tailEnd/>
            </a:ln>
          </p:spPr>
          <p:txBody>
            <a:bodyPr/>
            <a:lstStyle/>
            <a:p>
              <a:endParaRPr lang="en-US"/>
            </a:p>
          </p:txBody>
        </p:sp>
        <p:sp>
          <p:nvSpPr>
            <p:cNvPr id="81" name="Freeform 14">
              <a:extLst>
                <a:ext uri="{FF2B5EF4-FFF2-40B4-BE49-F238E27FC236}">
                  <a16:creationId xmlns:a16="http://schemas.microsoft.com/office/drawing/2014/main" id="{2FBC62F8-64D0-4025-99AE-A04E291D9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12000"/>
                </a:schemeClr>
              </a:solidFill>
              <a:prstDash val="dash"/>
              <a:miter lim="800000"/>
              <a:headEnd/>
              <a:tailEnd/>
            </a:ln>
          </p:spPr>
          <p:txBody>
            <a:bodyPr/>
            <a:lstStyle/>
            <a:p>
              <a:endParaRPr lang="en-US"/>
            </a:p>
          </p:txBody>
        </p:sp>
        <p:sp>
          <p:nvSpPr>
            <p:cNvPr id="82" name="Freeform 15">
              <a:extLst>
                <a:ext uri="{FF2B5EF4-FFF2-40B4-BE49-F238E27FC236}">
                  <a16:creationId xmlns:a16="http://schemas.microsoft.com/office/drawing/2014/main" id="{7632F945-80B5-4575-A538-29495BF8F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12000"/>
                </a:schemeClr>
              </a:solidFill>
              <a:prstDash val="dashDot"/>
              <a:miter lim="800000"/>
              <a:headEnd/>
              <a:tailEnd/>
            </a:ln>
          </p:spPr>
          <p:txBody>
            <a:bodyPr/>
            <a:lstStyle/>
            <a:p>
              <a:endParaRPr lang="en-US"/>
            </a:p>
          </p:txBody>
        </p:sp>
        <p:sp>
          <p:nvSpPr>
            <p:cNvPr id="83" name="Freeform 16">
              <a:extLst>
                <a:ext uri="{FF2B5EF4-FFF2-40B4-BE49-F238E27FC236}">
                  <a16:creationId xmlns:a16="http://schemas.microsoft.com/office/drawing/2014/main" id="{5562CC17-43D4-4E57-AE08-83952EE59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12000"/>
                </a:schemeClr>
              </a:solidFill>
              <a:prstDash val="dashDot"/>
              <a:miter lim="800000"/>
              <a:headEnd/>
              <a:tailEnd/>
            </a:ln>
          </p:spPr>
          <p:txBody>
            <a:bodyPr/>
            <a:lstStyle/>
            <a:p>
              <a:endParaRPr lang="en-US"/>
            </a:p>
          </p:txBody>
        </p:sp>
        <p:sp>
          <p:nvSpPr>
            <p:cNvPr id="84" name="Freeform 17">
              <a:extLst>
                <a:ext uri="{FF2B5EF4-FFF2-40B4-BE49-F238E27FC236}">
                  <a16:creationId xmlns:a16="http://schemas.microsoft.com/office/drawing/2014/main" id="{E1D78CFE-04CA-4101-AFCF-196940B2D1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12000"/>
                </a:schemeClr>
              </a:solidFill>
              <a:prstDash val="solid"/>
              <a:miter lim="800000"/>
              <a:headEnd/>
              <a:tailEnd/>
            </a:ln>
          </p:spPr>
          <p:txBody>
            <a:bodyPr/>
            <a:lstStyle/>
            <a:p>
              <a:endParaRPr lang="en-US"/>
            </a:p>
          </p:txBody>
        </p:sp>
        <p:sp>
          <p:nvSpPr>
            <p:cNvPr id="85" name="Freeform 18">
              <a:extLst>
                <a:ext uri="{FF2B5EF4-FFF2-40B4-BE49-F238E27FC236}">
                  <a16:creationId xmlns:a16="http://schemas.microsoft.com/office/drawing/2014/main" id="{41F2A149-A64E-4690-B049-18C156A8E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12000"/>
                </a:schemeClr>
              </a:solidFill>
              <a:prstDash val="solid"/>
              <a:miter lim="800000"/>
              <a:headEnd/>
              <a:tailEnd/>
            </a:ln>
          </p:spPr>
          <p:txBody>
            <a:bodyPr/>
            <a:lstStyle/>
            <a:p>
              <a:endParaRPr lang="en-US"/>
            </a:p>
          </p:txBody>
        </p:sp>
        <p:sp>
          <p:nvSpPr>
            <p:cNvPr id="86" name="Freeform 19">
              <a:extLst>
                <a:ext uri="{FF2B5EF4-FFF2-40B4-BE49-F238E27FC236}">
                  <a16:creationId xmlns:a16="http://schemas.microsoft.com/office/drawing/2014/main" id="{D9313C72-D62D-4416-A6AE-7EB7D6B54A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11000"/>
                </a:schemeClr>
              </a:solidFill>
              <a:prstDash val="solid"/>
              <a:miter lim="800000"/>
              <a:headEnd/>
              <a:tailEnd/>
            </a:ln>
          </p:spPr>
          <p:txBody>
            <a:bodyPr/>
            <a:lstStyle/>
            <a:p>
              <a:endParaRPr lang="en-US"/>
            </a:p>
          </p:txBody>
        </p:sp>
        <p:sp>
          <p:nvSpPr>
            <p:cNvPr id="87" name="Freeform 20">
              <a:extLst>
                <a:ext uri="{FF2B5EF4-FFF2-40B4-BE49-F238E27FC236}">
                  <a16:creationId xmlns:a16="http://schemas.microsoft.com/office/drawing/2014/main" id="{77B03BEA-76E5-4ECB-B9BB-D89D27509E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11000"/>
                </a:schemeClr>
              </a:solidFill>
              <a:prstDash val="solid"/>
              <a:miter lim="800000"/>
              <a:headEnd/>
              <a:tailEnd/>
            </a:ln>
          </p:spPr>
          <p:txBody>
            <a:bodyPr/>
            <a:lstStyle/>
            <a:p>
              <a:endParaRPr lang="en-US"/>
            </a:p>
          </p:txBody>
        </p:sp>
        <p:sp>
          <p:nvSpPr>
            <p:cNvPr id="88" name="Freeform 21">
              <a:extLst>
                <a:ext uri="{FF2B5EF4-FFF2-40B4-BE49-F238E27FC236}">
                  <a16:creationId xmlns:a16="http://schemas.microsoft.com/office/drawing/2014/main" id="{6AF6BECE-416D-4C3A-AD6F-68B08F3CA7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10000"/>
                </a:schemeClr>
              </a:solidFill>
              <a:prstDash val="solid"/>
              <a:miter lim="800000"/>
              <a:headEnd/>
              <a:tailEnd/>
            </a:ln>
          </p:spPr>
          <p:txBody>
            <a:bodyPr/>
            <a:lstStyle/>
            <a:p>
              <a:endParaRPr lang="en-US"/>
            </a:p>
          </p:txBody>
        </p:sp>
        <p:sp>
          <p:nvSpPr>
            <p:cNvPr id="89" name="Freeform 22">
              <a:extLst>
                <a:ext uri="{FF2B5EF4-FFF2-40B4-BE49-F238E27FC236}">
                  <a16:creationId xmlns:a16="http://schemas.microsoft.com/office/drawing/2014/main" id="{B9197E2A-A098-480D-A2A6-3F3B889ED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10000"/>
                </a:schemeClr>
              </a:solidFill>
              <a:prstDash val="dash"/>
              <a:miter lim="800000"/>
              <a:headEnd/>
              <a:tailEnd/>
            </a:ln>
          </p:spPr>
          <p:txBody>
            <a:bodyPr/>
            <a:lstStyle/>
            <a:p>
              <a:endParaRPr lang="en-US"/>
            </a:p>
          </p:txBody>
        </p:sp>
        <p:sp>
          <p:nvSpPr>
            <p:cNvPr id="90" name="Freeform 23">
              <a:extLst>
                <a:ext uri="{FF2B5EF4-FFF2-40B4-BE49-F238E27FC236}">
                  <a16:creationId xmlns:a16="http://schemas.microsoft.com/office/drawing/2014/main" id="{5A493EDB-6C9E-483F-86A6-0F473E5908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10000"/>
                </a:schemeClr>
              </a:solidFill>
              <a:prstDash val="solid"/>
              <a:miter lim="800000"/>
              <a:headEnd/>
              <a:tailEnd/>
            </a:ln>
          </p:spPr>
          <p:txBody>
            <a:bodyPr/>
            <a:lstStyle/>
            <a:p>
              <a:endParaRPr lang="en-US"/>
            </a:p>
          </p:txBody>
        </p:sp>
      </p:grpSp>
      <p:sp>
        <p:nvSpPr>
          <p:cNvPr id="6" name="Subtitle 5">
            <a:extLst>
              <a:ext uri="{FF2B5EF4-FFF2-40B4-BE49-F238E27FC236}">
                <a16:creationId xmlns:a16="http://schemas.microsoft.com/office/drawing/2014/main" id="{285C1A43-3567-D00C-63C0-C47DAAE586B8}"/>
              </a:ext>
            </a:extLst>
          </p:cNvPr>
          <p:cNvSpPr>
            <a:spLocks noGrp="1"/>
          </p:cNvSpPr>
          <p:nvPr>
            <p:ph type="subTitle" idx="1"/>
          </p:nvPr>
        </p:nvSpPr>
        <p:spPr>
          <a:xfrm>
            <a:off x="2004716" y="4560433"/>
            <a:ext cx="8239253" cy="535550"/>
          </a:xfrm>
        </p:spPr>
        <p:txBody>
          <a:bodyPr>
            <a:normAutofit/>
          </a:bodyPr>
          <a:lstStyle/>
          <a:p>
            <a:r>
              <a:rPr lang="en-US" sz="2400" b="1" dirty="0">
                <a:solidFill>
                  <a:schemeClr val="tx1"/>
                </a:solidFill>
                <a:latin typeface="Times New Roman" panose="02020603050405020304" pitchFamily="18" charset="0"/>
                <a:cs typeface="Times New Roman" panose="02020603050405020304" pitchFamily="18" charset="0"/>
              </a:rPr>
              <a:t>THANK YOU</a:t>
            </a:r>
          </a:p>
        </p:txBody>
      </p:sp>
      <p:sp>
        <p:nvSpPr>
          <p:cNvPr id="92" name="Isosceles Triangle 91">
            <a:extLst>
              <a:ext uri="{FF2B5EF4-FFF2-40B4-BE49-F238E27FC236}">
                <a16:creationId xmlns:a16="http://schemas.microsoft.com/office/drawing/2014/main" id="{A4CD35EF-7348-4E64-8700-827E64EA4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435823" y="3320139"/>
            <a:ext cx="300774" cy="25928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solidFill>
                <a:schemeClr val="tx1"/>
              </a:solidFill>
            </a:endParaRPr>
          </a:p>
        </p:txBody>
      </p:sp>
    </p:spTree>
    <p:extLst>
      <p:ext uri="{BB962C8B-B14F-4D97-AF65-F5344CB8AC3E}">
        <p14:creationId xmlns:p14="http://schemas.microsoft.com/office/powerpoint/2010/main" val="90225464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Atlas">
  <a:themeElements>
    <a:clrScheme name="Custom 10">
      <a:dk1>
        <a:sysClr val="windowText" lastClr="000000"/>
      </a:dk1>
      <a:lt1>
        <a:sysClr val="window" lastClr="FFFFFF"/>
      </a:lt1>
      <a:dk2>
        <a:srgbClr val="454545"/>
      </a:dk2>
      <a:lt2>
        <a:srgbClr val="E0E0E0"/>
      </a:lt2>
      <a:accent1>
        <a:srgbClr val="A0D1FF"/>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955</TotalTime>
  <Words>1477</Words>
  <Application>Microsoft Office PowerPoint</Application>
  <PresentationFormat>Widescreen</PresentationFormat>
  <Paragraphs>138</Paragraphs>
  <Slides>23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Arial</vt:lpstr>
      <vt:lpstr>Calibri Light</vt:lpstr>
      <vt:lpstr>Rockwell</vt:lpstr>
      <vt:lpstr>Times New Roman</vt:lpstr>
      <vt:lpstr>Wingdings</vt:lpstr>
      <vt:lpstr>Atlas</vt:lpstr>
      <vt:lpstr>HOSPITAL PATIENT ANALYSIS</vt:lpstr>
      <vt:lpstr>HOSPITAL MANAGEMENT ANALYSIS</vt:lpstr>
      <vt:lpstr>INTRODUCTION</vt:lpstr>
      <vt:lpstr>OBJECTIVES </vt:lpstr>
      <vt:lpstr>BUSINESS QUESTIONS</vt:lpstr>
      <vt:lpstr>BUSINESS QUESTIONS</vt:lpstr>
      <vt:lpstr>BUSINESS QUESTIONS</vt:lpstr>
      <vt:lpstr>DATA DESCRIPTION</vt:lpstr>
      <vt:lpstr>DATA DESCRIPTION</vt:lpstr>
      <vt:lpstr>DATA DESCRIPTION</vt:lpstr>
      <vt:lpstr>DATA DESCRIPTION</vt:lpstr>
      <vt:lpstr>DATA DESCRIPTION</vt:lpstr>
      <vt:lpstr>DATA PREPARATION</vt:lpstr>
      <vt:lpstr>DATA PREPARATION</vt:lpstr>
      <vt:lpstr>ANALYSIS AND FINDINGS</vt:lpstr>
      <vt:lpstr>ANALYSIS AND FINDINGS</vt:lpstr>
      <vt:lpstr>ANALYSIS AND FINDINGS</vt:lpstr>
      <vt:lpstr>PowerPoint Presentation</vt:lpstr>
      <vt:lpstr>PowerPoint Presentation</vt:lpstr>
      <vt:lpstr>PowerPoint Presentation</vt:lpstr>
      <vt:lpstr>RECOMMENDATION </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favour eigbe</dc:creator>
  <cp:lastModifiedBy>favour eigbe</cp:lastModifiedBy>
  <cp:revision>16</cp:revision>
  <dcterms:created xsi:type="dcterms:W3CDTF">2025-07-11T19:39:34Z</dcterms:created>
  <dcterms:modified xsi:type="dcterms:W3CDTF">2025-12-28T13:08:59Z</dcterms:modified>
</cp:coreProperties>
</file>